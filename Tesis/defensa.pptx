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53" r:id="rId2"/>
    <p:sldId id="361" r:id="rId3"/>
    <p:sldId id="362" r:id="rId4"/>
    <p:sldId id="355" r:id="rId5"/>
    <p:sldId id="356" r:id="rId6"/>
    <p:sldId id="363" r:id="rId7"/>
    <p:sldId id="380" r:id="rId8"/>
    <p:sldId id="364" r:id="rId9"/>
    <p:sldId id="381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73" r:id="rId19"/>
    <p:sldId id="374" r:id="rId20"/>
    <p:sldId id="375" r:id="rId21"/>
    <p:sldId id="376" r:id="rId22"/>
    <p:sldId id="377" r:id="rId23"/>
    <p:sldId id="378" r:id="rId24"/>
    <p:sldId id="379" r:id="rId25"/>
    <p:sldId id="382" r:id="rId26"/>
  </p:sldIdLst>
  <p:sldSz cx="12192000" cy="6858000"/>
  <p:notesSz cx="10020300" cy="68881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Estilo claro 3 - Acento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DBED569-4797-4DF1-A0F4-6AAB3CD982D8}" styleName="Estilo claro 3 - Acento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71" autoAdjust="0"/>
    <p:restoredTop sz="76827" autoAdjust="0"/>
  </p:normalViewPr>
  <p:slideViewPr>
    <p:cSldViewPr snapToGrid="0">
      <p:cViewPr varScale="1">
        <p:scale>
          <a:sx n="72" d="100"/>
          <a:sy n="72" d="100"/>
        </p:scale>
        <p:origin x="80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Libro1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Libro1" TargetMode="External"/><Relationship Id="rId1" Type="http://schemas.openxmlformats.org/officeDocument/2006/relationships/themeOverride" Target="../theme/themeOverr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C"/>
              <a:t>Portabilidad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Hoja1!$D$3</c:f>
              <c:strCache>
                <c:ptCount val="1"/>
                <c:pt idx="0">
                  <c:v>caso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Hoja1!$C$4:$C$6</c:f>
              <c:strCache>
                <c:ptCount val="3"/>
                <c:pt idx="0">
                  <c:v>adaptabilidad</c:v>
                </c:pt>
                <c:pt idx="1">
                  <c:v>conformidad </c:v>
                </c:pt>
                <c:pt idx="2">
                  <c:v>capacidad de instalacion</c:v>
                </c:pt>
              </c:strCache>
            </c:strRef>
          </c:cat>
          <c:val>
            <c:numRef>
              <c:f>Hoja1!$D$4:$D$6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A4C-4422-90B8-37B9FB82ABA8}"/>
            </c:ext>
          </c:extLst>
        </c:ser>
        <c:ser>
          <c:idx val="1"/>
          <c:order val="1"/>
          <c:tx>
            <c:strRef>
              <c:f>Hoja1!$E$3</c:f>
              <c:strCache>
                <c:ptCount val="1"/>
                <c:pt idx="0">
                  <c:v>caso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Hoja1!$C$4:$C$6</c:f>
              <c:strCache>
                <c:ptCount val="3"/>
                <c:pt idx="0">
                  <c:v>adaptabilidad</c:v>
                </c:pt>
                <c:pt idx="1">
                  <c:v>conformidad </c:v>
                </c:pt>
                <c:pt idx="2">
                  <c:v>capacidad de instalacion</c:v>
                </c:pt>
              </c:strCache>
            </c:strRef>
          </c:cat>
          <c:val>
            <c:numRef>
              <c:f>Hoja1!$E$4:$E$6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A4C-4422-90B8-37B9FB82AB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115328"/>
        <c:axId val="182084352"/>
      </c:barChart>
      <c:catAx>
        <c:axId val="182115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82084352"/>
        <c:crosses val="autoZero"/>
        <c:auto val="1"/>
        <c:lblAlgn val="ctr"/>
        <c:lblOffset val="100"/>
        <c:noMultiLvlLbl val="0"/>
      </c:catAx>
      <c:valAx>
        <c:axId val="182084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821153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s-EC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C"/>
              <a:t>Utilización de recursos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Hoja2!$E$6</c:f>
              <c:strCache>
                <c:ptCount val="1"/>
                <c:pt idx="0">
                  <c:v>caso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Hoja2!$D$7:$D$9</c:f>
              <c:strCache>
                <c:ptCount val="3"/>
                <c:pt idx="0">
                  <c:v>CPU</c:v>
                </c:pt>
                <c:pt idx="1">
                  <c:v>MEMORIA</c:v>
                </c:pt>
                <c:pt idx="2">
                  <c:v>DISCO</c:v>
                </c:pt>
              </c:strCache>
            </c:strRef>
          </c:cat>
          <c:val>
            <c:numRef>
              <c:f>Hoja2!$E$7:$E$9</c:f>
              <c:numCache>
                <c:formatCode>General</c:formatCode>
                <c:ptCount val="3"/>
                <c:pt idx="0">
                  <c:v>0.38</c:v>
                </c:pt>
                <c:pt idx="1">
                  <c:v>0.38300000000000001</c:v>
                </c:pt>
                <c:pt idx="2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AA-46EE-ACD6-D6C33F874318}"/>
            </c:ext>
          </c:extLst>
        </c:ser>
        <c:ser>
          <c:idx val="1"/>
          <c:order val="1"/>
          <c:tx>
            <c:strRef>
              <c:f>Hoja2!$F$6</c:f>
              <c:strCache>
                <c:ptCount val="1"/>
                <c:pt idx="0">
                  <c:v>caso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Hoja2!$D$7:$D$9</c:f>
              <c:strCache>
                <c:ptCount val="3"/>
                <c:pt idx="0">
                  <c:v>CPU</c:v>
                </c:pt>
                <c:pt idx="1">
                  <c:v>MEMORIA</c:v>
                </c:pt>
                <c:pt idx="2">
                  <c:v>DISCO</c:v>
                </c:pt>
              </c:strCache>
            </c:strRef>
          </c:cat>
          <c:val>
            <c:numRef>
              <c:f>Hoja2!$F$7:$F$9</c:f>
              <c:numCache>
                <c:formatCode>General</c:formatCode>
                <c:ptCount val="3"/>
                <c:pt idx="0">
                  <c:v>0.27</c:v>
                </c:pt>
                <c:pt idx="1">
                  <c:v>0.151</c:v>
                </c:pt>
                <c:pt idx="2">
                  <c:v>9.9999999999999995E-7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AA-46EE-ACD6-D6C33F8743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2119808"/>
        <c:axId val="182797440"/>
      </c:barChart>
      <c:catAx>
        <c:axId val="18211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82797440"/>
        <c:crosses val="autoZero"/>
        <c:auto val="1"/>
        <c:lblAlgn val="ctr"/>
        <c:lblOffset val="100"/>
        <c:noMultiLvlLbl val="0"/>
      </c:catAx>
      <c:valAx>
        <c:axId val="182797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C"/>
          </a:p>
        </c:txPr>
        <c:crossAx val="1821198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C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s-EC"/>
    </a:p>
  </c:txPr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C57DE-E6A5-49AF-B5F7-656B3A137C70}" type="doc">
      <dgm:prSet loTypeId="urn:microsoft.com/office/officeart/2005/8/layout/list1" loCatId="list" qsTypeId="urn:microsoft.com/office/officeart/2005/8/quickstyle/3d3" qsCatId="3D" csTypeId="urn:microsoft.com/office/officeart/2005/8/colors/accent0_1" csCatId="mainScheme" phldr="1"/>
      <dgm:spPr/>
      <dgm:t>
        <a:bodyPr/>
        <a:lstStyle/>
        <a:p>
          <a:endParaRPr lang="es-ES"/>
        </a:p>
      </dgm:t>
    </dgm:pt>
    <dgm:pt modelId="{E2B68E49-7F92-4ED2-B605-41E28875B8FA}">
      <dgm:prSet phldrT="[Texto]" custT="1"/>
      <dgm:spPr/>
      <dgm:t>
        <a:bodyPr/>
        <a:lstStyle/>
        <a:p>
          <a:pPr algn="just" rtl="0"/>
          <a:r>
            <a:rPr lang="es-ES" sz="1600" dirty="0"/>
            <a:t>Analizar y describir la solución de los modelos matemáticos de </a:t>
          </a:r>
          <a:r>
            <a:rPr lang="es-ES" sz="1600" dirty="0" err="1"/>
            <a:t>D’Alambert</a:t>
          </a:r>
          <a:r>
            <a:rPr lang="es-ES" sz="1600" dirty="0"/>
            <a:t> y Fourier para 2D y 3D.</a:t>
          </a:r>
        </a:p>
      </dgm:t>
    </dgm:pt>
    <dgm:pt modelId="{60C6528F-191B-4A40-8AC4-7018A6D0F549}" type="parTrans" cxnId="{E996E123-8287-47C9-9014-19657F658EA8}">
      <dgm:prSet/>
      <dgm:spPr/>
      <dgm:t>
        <a:bodyPr/>
        <a:lstStyle/>
        <a:p>
          <a:endParaRPr lang="es-ES"/>
        </a:p>
      </dgm:t>
    </dgm:pt>
    <dgm:pt modelId="{2D1297C5-4338-491E-8997-ABDF6CE9ACCF}" type="sibTrans" cxnId="{E996E123-8287-47C9-9014-19657F658EA8}">
      <dgm:prSet/>
      <dgm:spPr/>
      <dgm:t>
        <a:bodyPr/>
        <a:lstStyle/>
        <a:p>
          <a:endParaRPr lang="es-ES"/>
        </a:p>
      </dgm:t>
    </dgm:pt>
    <dgm:pt modelId="{EF5DC0C6-8D4F-43F6-9B7F-BC2E3FF5EAFC}">
      <dgm:prSet phldrT="[Texto]" custT="1"/>
      <dgm:spPr/>
      <dgm:t>
        <a:bodyPr/>
        <a:lstStyle/>
        <a:p>
          <a:pPr rtl="0"/>
          <a:r>
            <a:rPr lang="es-ES" sz="1600" dirty="0"/>
            <a:t>Definir los requerimientos para el desarrollo del sistema.</a:t>
          </a:r>
        </a:p>
      </dgm:t>
    </dgm:pt>
    <dgm:pt modelId="{973CA689-5358-46DD-A5C4-F5C18879B367}" type="parTrans" cxnId="{D2D391CE-F405-4AF9-A80B-DB598D0126B3}">
      <dgm:prSet/>
      <dgm:spPr/>
      <dgm:t>
        <a:bodyPr/>
        <a:lstStyle/>
        <a:p>
          <a:endParaRPr lang="es-ES"/>
        </a:p>
      </dgm:t>
    </dgm:pt>
    <dgm:pt modelId="{C4555338-9E5D-4DEC-ABA9-5028BB34AD7B}" type="sibTrans" cxnId="{D2D391CE-F405-4AF9-A80B-DB598D0126B3}">
      <dgm:prSet/>
      <dgm:spPr/>
      <dgm:t>
        <a:bodyPr/>
        <a:lstStyle/>
        <a:p>
          <a:endParaRPr lang="es-ES"/>
        </a:p>
      </dgm:t>
    </dgm:pt>
    <dgm:pt modelId="{929CA991-7526-4798-90BE-DD127E790821}">
      <dgm:prSet phldrT="[Texto]" custT="1"/>
      <dgm:spPr/>
      <dgm:t>
        <a:bodyPr/>
        <a:lstStyle/>
        <a:p>
          <a:pPr algn="just" rtl="0"/>
          <a:r>
            <a:rPr lang="es-ES" sz="1600" dirty="0"/>
            <a:t>Desarrollar e implementar el sistema web para simular los fenómenos y representar la solución de modelos matemáticos de las ecuaciones ondulatorios de ondas de </a:t>
          </a:r>
          <a:r>
            <a:rPr lang="es-ES" sz="1600" dirty="0" err="1"/>
            <a:t>D’Alambert</a:t>
          </a:r>
          <a:r>
            <a:rPr lang="es-ES" sz="1600" dirty="0"/>
            <a:t> y Fourier para 2D y 3D en la ESPOCH.</a:t>
          </a:r>
        </a:p>
      </dgm:t>
    </dgm:pt>
    <dgm:pt modelId="{CA0360CF-E278-46B4-BD82-7063567365E8}" type="parTrans" cxnId="{16870296-D858-4AE5-93A7-402421E902E4}">
      <dgm:prSet/>
      <dgm:spPr/>
      <dgm:t>
        <a:bodyPr/>
        <a:lstStyle/>
        <a:p>
          <a:endParaRPr lang="es-ES"/>
        </a:p>
      </dgm:t>
    </dgm:pt>
    <dgm:pt modelId="{FE016119-07E3-4774-AA84-92B4F2EFB74A}" type="sibTrans" cxnId="{16870296-D858-4AE5-93A7-402421E902E4}">
      <dgm:prSet/>
      <dgm:spPr/>
      <dgm:t>
        <a:bodyPr/>
        <a:lstStyle/>
        <a:p>
          <a:endParaRPr lang="es-ES"/>
        </a:p>
      </dgm:t>
    </dgm:pt>
    <dgm:pt modelId="{FB654003-4C85-46E4-906D-CCD46C1D5D28}">
      <dgm:prSet custT="1"/>
      <dgm:spPr/>
      <dgm:t>
        <a:bodyPr/>
        <a:lstStyle/>
        <a:p>
          <a:pPr algn="just">
            <a:buFont typeface="Symbol" panose="05050102010706020507" pitchFamily="18" charset="2"/>
            <a:buNone/>
          </a:pPr>
          <a:r>
            <a:rPr lang="es-ES" sz="1600" dirty="0"/>
            <a:t>Evaluar la calidad en eficiencia y portabilidad del simulador, de acuerdo con la </a:t>
          </a:r>
          <a:r>
            <a:rPr lang="es-EC" sz="1600" dirty="0"/>
            <a:t>norma ISO/IEC 9126</a:t>
          </a:r>
          <a:r>
            <a:rPr lang="es-ES" sz="1600" dirty="0"/>
            <a:t>.</a:t>
          </a:r>
          <a:endParaRPr lang="es-ES" sz="1600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C899868D-6055-4A1C-9533-BA8847BE03C6}" type="parTrans" cxnId="{6ABAAB1F-963F-4AFF-9083-CA0A04969806}">
      <dgm:prSet/>
      <dgm:spPr/>
      <dgm:t>
        <a:bodyPr/>
        <a:lstStyle/>
        <a:p>
          <a:endParaRPr lang="es-ES"/>
        </a:p>
      </dgm:t>
    </dgm:pt>
    <dgm:pt modelId="{CA7FF330-047D-47A6-AA34-59A9836F4211}" type="sibTrans" cxnId="{6ABAAB1F-963F-4AFF-9083-CA0A04969806}">
      <dgm:prSet/>
      <dgm:spPr/>
      <dgm:t>
        <a:bodyPr/>
        <a:lstStyle/>
        <a:p>
          <a:endParaRPr lang="es-ES"/>
        </a:p>
      </dgm:t>
    </dgm:pt>
    <dgm:pt modelId="{5F843C0D-2129-4317-80A9-4B20472244AF}" type="pres">
      <dgm:prSet presAssocID="{C3CC57DE-E6A5-49AF-B5F7-656B3A137C70}" presName="linear" presStyleCnt="0">
        <dgm:presLayoutVars>
          <dgm:dir/>
          <dgm:animLvl val="lvl"/>
          <dgm:resizeHandles val="exact"/>
        </dgm:presLayoutVars>
      </dgm:prSet>
      <dgm:spPr/>
    </dgm:pt>
    <dgm:pt modelId="{2D27ACAB-ED96-4817-825B-7360110C8E23}" type="pres">
      <dgm:prSet presAssocID="{E2B68E49-7F92-4ED2-B605-41E28875B8FA}" presName="parentLin" presStyleCnt="0"/>
      <dgm:spPr/>
    </dgm:pt>
    <dgm:pt modelId="{B32E2E6B-B2B5-4AC2-88ED-B3718CE549D1}" type="pres">
      <dgm:prSet presAssocID="{E2B68E49-7F92-4ED2-B605-41E28875B8FA}" presName="parentLeftMargin" presStyleLbl="node1" presStyleIdx="0" presStyleCnt="4"/>
      <dgm:spPr/>
    </dgm:pt>
    <dgm:pt modelId="{454DDA2D-9A7B-4499-9577-CE84124CDC4D}" type="pres">
      <dgm:prSet presAssocID="{E2B68E49-7F92-4ED2-B605-41E28875B8FA}" presName="parentText" presStyleLbl="node1" presStyleIdx="0" presStyleCnt="4" custScaleX="113674" custScaleY="377448">
        <dgm:presLayoutVars>
          <dgm:chMax val="0"/>
          <dgm:bulletEnabled val="1"/>
        </dgm:presLayoutVars>
      </dgm:prSet>
      <dgm:spPr/>
    </dgm:pt>
    <dgm:pt modelId="{0A2364BE-D0E8-4671-9CEF-4EC28F73A255}" type="pres">
      <dgm:prSet presAssocID="{E2B68E49-7F92-4ED2-B605-41E28875B8FA}" presName="negativeSpace" presStyleCnt="0"/>
      <dgm:spPr/>
    </dgm:pt>
    <dgm:pt modelId="{2DCE8B29-DF12-4310-8CDE-7F3594559CB0}" type="pres">
      <dgm:prSet presAssocID="{E2B68E49-7F92-4ED2-B605-41E28875B8FA}" presName="childText" presStyleLbl="conFgAcc1" presStyleIdx="0" presStyleCnt="4">
        <dgm:presLayoutVars>
          <dgm:bulletEnabled val="1"/>
        </dgm:presLayoutVars>
      </dgm:prSet>
      <dgm:spPr/>
    </dgm:pt>
    <dgm:pt modelId="{B5015EDA-D1BB-4AFB-8BA1-1F606348EBBC}" type="pres">
      <dgm:prSet presAssocID="{2D1297C5-4338-491E-8997-ABDF6CE9ACCF}" presName="spaceBetweenRectangles" presStyleCnt="0"/>
      <dgm:spPr/>
    </dgm:pt>
    <dgm:pt modelId="{FD3468C4-ED8A-4B52-A39A-8729449D9184}" type="pres">
      <dgm:prSet presAssocID="{EF5DC0C6-8D4F-43F6-9B7F-BC2E3FF5EAFC}" presName="parentLin" presStyleCnt="0"/>
      <dgm:spPr/>
    </dgm:pt>
    <dgm:pt modelId="{0B25CD9F-E2CA-440E-AFC5-D9026C31BD12}" type="pres">
      <dgm:prSet presAssocID="{EF5DC0C6-8D4F-43F6-9B7F-BC2E3FF5EAFC}" presName="parentLeftMargin" presStyleLbl="node1" presStyleIdx="0" presStyleCnt="4"/>
      <dgm:spPr/>
    </dgm:pt>
    <dgm:pt modelId="{F549710D-0120-4343-8EDC-67EBA80BB47C}" type="pres">
      <dgm:prSet presAssocID="{EF5DC0C6-8D4F-43F6-9B7F-BC2E3FF5EAFC}" presName="parentText" presStyleLbl="node1" presStyleIdx="1" presStyleCnt="4" custScaleX="113508" custScaleY="325971">
        <dgm:presLayoutVars>
          <dgm:chMax val="0"/>
          <dgm:bulletEnabled val="1"/>
        </dgm:presLayoutVars>
      </dgm:prSet>
      <dgm:spPr/>
    </dgm:pt>
    <dgm:pt modelId="{5BEEDBBB-5B77-4CD1-A1B3-9C83CBBA26C6}" type="pres">
      <dgm:prSet presAssocID="{EF5DC0C6-8D4F-43F6-9B7F-BC2E3FF5EAFC}" presName="negativeSpace" presStyleCnt="0"/>
      <dgm:spPr/>
    </dgm:pt>
    <dgm:pt modelId="{B85546DA-268D-4D08-AA25-F0326E04E7B9}" type="pres">
      <dgm:prSet presAssocID="{EF5DC0C6-8D4F-43F6-9B7F-BC2E3FF5EAFC}" presName="childText" presStyleLbl="conFgAcc1" presStyleIdx="1" presStyleCnt="4">
        <dgm:presLayoutVars>
          <dgm:bulletEnabled val="1"/>
        </dgm:presLayoutVars>
      </dgm:prSet>
      <dgm:spPr/>
    </dgm:pt>
    <dgm:pt modelId="{BEA0F135-0169-404B-833F-2C680B3ED878}" type="pres">
      <dgm:prSet presAssocID="{C4555338-9E5D-4DEC-ABA9-5028BB34AD7B}" presName="spaceBetweenRectangles" presStyleCnt="0"/>
      <dgm:spPr/>
    </dgm:pt>
    <dgm:pt modelId="{9D11933F-82FC-4D0F-AB8B-A20C31207841}" type="pres">
      <dgm:prSet presAssocID="{929CA991-7526-4798-90BE-DD127E790821}" presName="parentLin" presStyleCnt="0"/>
      <dgm:spPr/>
    </dgm:pt>
    <dgm:pt modelId="{23325BE4-AC79-4C7C-8786-00D0693FC969}" type="pres">
      <dgm:prSet presAssocID="{929CA991-7526-4798-90BE-DD127E790821}" presName="parentLeftMargin" presStyleLbl="node1" presStyleIdx="1" presStyleCnt="4"/>
      <dgm:spPr/>
    </dgm:pt>
    <dgm:pt modelId="{922854AA-EBD8-45C8-B5AB-BED1EEE36699}" type="pres">
      <dgm:prSet presAssocID="{929CA991-7526-4798-90BE-DD127E790821}" presName="parentText" presStyleLbl="node1" presStyleIdx="2" presStyleCnt="4" custScaleX="113787" custScaleY="351996">
        <dgm:presLayoutVars>
          <dgm:chMax val="0"/>
          <dgm:bulletEnabled val="1"/>
        </dgm:presLayoutVars>
      </dgm:prSet>
      <dgm:spPr/>
    </dgm:pt>
    <dgm:pt modelId="{653C470F-ACA2-4FA6-A51E-A842AA7418BD}" type="pres">
      <dgm:prSet presAssocID="{929CA991-7526-4798-90BE-DD127E790821}" presName="negativeSpace" presStyleCnt="0"/>
      <dgm:spPr/>
    </dgm:pt>
    <dgm:pt modelId="{0EC87CA6-5CEC-4DAB-8FE3-86B6804850A8}" type="pres">
      <dgm:prSet presAssocID="{929CA991-7526-4798-90BE-DD127E790821}" presName="childText" presStyleLbl="conFgAcc1" presStyleIdx="2" presStyleCnt="4">
        <dgm:presLayoutVars>
          <dgm:bulletEnabled val="1"/>
        </dgm:presLayoutVars>
      </dgm:prSet>
      <dgm:spPr/>
    </dgm:pt>
    <dgm:pt modelId="{1DA82650-B7EB-4A62-9625-2917ABE40219}" type="pres">
      <dgm:prSet presAssocID="{FE016119-07E3-4774-AA84-92B4F2EFB74A}" presName="spaceBetweenRectangles" presStyleCnt="0"/>
      <dgm:spPr/>
    </dgm:pt>
    <dgm:pt modelId="{9E1BEF5E-BD50-4E1A-BBE3-7EC3F08DCCB7}" type="pres">
      <dgm:prSet presAssocID="{FB654003-4C85-46E4-906D-CCD46C1D5D28}" presName="parentLin" presStyleCnt="0"/>
      <dgm:spPr/>
    </dgm:pt>
    <dgm:pt modelId="{32EF79A6-F53A-47F1-9D06-0123D704454C}" type="pres">
      <dgm:prSet presAssocID="{FB654003-4C85-46E4-906D-CCD46C1D5D28}" presName="parentLeftMargin" presStyleLbl="node1" presStyleIdx="2" presStyleCnt="4"/>
      <dgm:spPr/>
    </dgm:pt>
    <dgm:pt modelId="{8C6BD45A-7EAC-44D1-9F2B-C2F3B3487AA3}" type="pres">
      <dgm:prSet presAssocID="{FB654003-4C85-46E4-906D-CCD46C1D5D28}" presName="parentText" presStyleLbl="node1" presStyleIdx="3" presStyleCnt="4" custScaleX="112851" custScaleY="354318">
        <dgm:presLayoutVars>
          <dgm:chMax val="0"/>
          <dgm:bulletEnabled val="1"/>
        </dgm:presLayoutVars>
      </dgm:prSet>
      <dgm:spPr/>
    </dgm:pt>
    <dgm:pt modelId="{BEE4A230-E5CC-43E5-AD28-839E3564CD82}" type="pres">
      <dgm:prSet presAssocID="{FB654003-4C85-46E4-906D-CCD46C1D5D28}" presName="negativeSpace" presStyleCnt="0"/>
      <dgm:spPr/>
    </dgm:pt>
    <dgm:pt modelId="{C6C813C7-E7AA-40B9-B202-05C9BBD4F437}" type="pres">
      <dgm:prSet presAssocID="{FB654003-4C85-46E4-906D-CCD46C1D5D2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F0FA4A0F-1A63-455E-AB31-988B4DF09161}" type="presOf" srcId="{E2B68E49-7F92-4ED2-B605-41E28875B8FA}" destId="{454DDA2D-9A7B-4499-9577-CE84124CDC4D}" srcOrd="1" destOrd="0" presId="urn:microsoft.com/office/officeart/2005/8/layout/list1"/>
    <dgm:cxn modelId="{6ABAAB1F-963F-4AFF-9083-CA0A04969806}" srcId="{C3CC57DE-E6A5-49AF-B5F7-656B3A137C70}" destId="{FB654003-4C85-46E4-906D-CCD46C1D5D28}" srcOrd="3" destOrd="0" parTransId="{C899868D-6055-4A1C-9533-BA8847BE03C6}" sibTransId="{CA7FF330-047D-47A6-AA34-59A9836F4211}"/>
    <dgm:cxn modelId="{E996E123-8287-47C9-9014-19657F658EA8}" srcId="{C3CC57DE-E6A5-49AF-B5F7-656B3A137C70}" destId="{E2B68E49-7F92-4ED2-B605-41E28875B8FA}" srcOrd="0" destOrd="0" parTransId="{60C6528F-191B-4A40-8AC4-7018A6D0F549}" sibTransId="{2D1297C5-4338-491E-8997-ABDF6CE9ACCF}"/>
    <dgm:cxn modelId="{32E05146-749E-448F-A31F-A511890119BF}" type="presOf" srcId="{EF5DC0C6-8D4F-43F6-9B7F-BC2E3FF5EAFC}" destId="{0B25CD9F-E2CA-440E-AFC5-D9026C31BD12}" srcOrd="0" destOrd="0" presId="urn:microsoft.com/office/officeart/2005/8/layout/list1"/>
    <dgm:cxn modelId="{6BD61B70-CD2C-4CDD-92D8-41F8D551D535}" type="presOf" srcId="{FB654003-4C85-46E4-906D-CCD46C1D5D28}" destId="{8C6BD45A-7EAC-44D1-9F2B-C2F3B3487AA3}" srcOrd="1" destOrd="0" presId="urn:microsoft.com/office/officeart/2005/8/layout/list1"/>
    <dgm:cxn modelId="{F5A55694-25F8-482E-A9AB-063772980274}" type="presOf" srcId="{929CA991-7526-4798-90BE-DD127E790821}" destId="{922854AA-EBD8-45C8-B5AB-BED1EEE36699}" srcOrd="1" destOrd="0" presId="urn:microsoft.com/office/officeart/2005/8/layout/list1"/>
    <dgm:cxn modelId="{16870296-D858-4AE5-93A7-402421E902E4}" srcId="{C3CC57DE-E6A5-49AF-B5F7-656B3A137C70}" destId="{929CA991-7526-4798-90BE-DD127E790821}" srcOrd="2" destOrd="0" parTransId="{CA0360CF-E278-46B4-BD82-7063567365E8}" sibTransId="{FE016119-07E3-4774-AA84-92B4F2EFB74A}"/>
    <dgm:cxn modelId="{DB995A9B-1CD7-4221-82AE-4B1E05ABEB63}" type="presOf" srcId="{FB654003-4C85-46E4-906D-CCD46C1D5D28}" destId="{32EF79A6-F53A-47F1-9D06-0123D704454C}" srcOrd="0" destOrd="0" presId="urn:microsoft.com/office/officeart/2005/8/layout/list1"/>
    <dgm:cxn modelId="{28863BAD-D239-40C5-9647-8FF0C9E069F1}" type="presOf" srcId="{E2B68E49-7F92-4ED2-B605-41E28875B8FA}" destId="{B32E2E6B-B2B5-4AC2-88ED-B3718CE549D1}" srcOrd="0" destOrd="0" presId="urn:microsoft.com/office/officeart/2005/8/layout/list1"/>
    <dgm:cxn modelId="{0576D0BD-6668-4050-8ACC-6CFFF86E34BF}" type="presOf" srcId="{929CA991-7526-4798-90BE-DD127E790821}" destId="{23325BE4-AC79-4C7C-8786-00D0693FC969}" srcOrd="0" destOrd="0" presId="urn:microsoft.com/office/officeart/2005/8/layout/list1"/>
    <dgm:cxn modelId="{D2D391CE-F405-4AF9-A80B-DB598D0126B3}" srcId="{C3CC57DE-E6A5-49AF-B5F7-656B3A137C70}" destId="{EF5DC0C6-8D4F-43F6-9B7F-BC2E3FF5EAFC}" srcOrd="1" destOrd="0" parTransId="{973CA689-5358-46DD-A5C4-F5C18879B367}" sibTransId="{C4555338-9E5D-4DEC-ABA9-5028BB34AD7B}"/>
    <dgm:cxn modelId="{2343D3E2-53EB-4AF7-85A2-0B9F38DE2B20}" type="presOf" srcId="{EF5DC0C6-8D4F-43F6-9B7F-BC2E3FF5EAFC}" destId="{F549710D-0120-4343-8EDC-67EBA80BB47C}" srcOrd="1" destOrd="0" presId="urn:microsoft.com/office/officeart/2005/8/layout/list1"/>
    <dgm:cxn modelId="{7E3156FA-86AC-4FC1-BD73-3F974533101C}" type="presOf" srcId="{C3CC57DE-E6A5-49AF-B5F7-656B3A137C70}" destId="{5F843C0D-2129-4317-80A9-4B20472244AF}" srcOrd="0" destOrd="0" presId="urn:microsoft.com/office/officeart/2005/8/layout/list1"/>
    <dgm:cxn modelId="{A20FE3FA-4FF9-42D9-8513-9CDA66B0C852}" type="presParOf" srcId="{5F843C0D-2129-4317-80A9-4B20472244AF}" destId="{2D27ACAB-ED96-4817-825B-7360110C8E23}" srcOrd="0" destOrd="0" presId="urn:microsoft.com/office/officeart/2005/8/layout/list1"/>
    <dgm:cxn modelId="{8218CB9A-B82E-4547-B8A3-9C60E31942CA}" type="presParOf" srcId="{2D27ACAB-ED96-4817-825B-7360110C8E23}" destId="{B32E2E6B-B2B5-4AC2-88ED-B3718CE549D1}" srcOrd="0" destOrd="0" presId="urn:microsoft.com/office/officeart/2005/8/layout/list1"/>
    <dgm:cxn modelId="{F2076AB7-E6A1-4C2F-82F4-F040E3BC2C96}" type="presParOf" srcId="{2D27ACAB-ED96-4817-825B-7360110C8E23}" destId="{454DDA2D-9A7B-4499-9577-CE84124CDC4D}" srcOrd="1" destOrd="0" presId="urn:microsoft.com/office/officeart/2005/8/layout/list1"/>
    <dgm:cxn modelId="{820BA6BC-26C6-452B-A836-6180D19BB396}" type="presParOf" srcId="{5F843C0D-2129-4317-80A9-4B20472244AF}" destId="{0A2364BE-D0E8-4671-9CEF-4EC28F73A255}" srcOrd="1" destOrd="0" presId="urn:microsoft.com/office/officeart/2005/8/layout/list1"/>
    <dgm:cxn modelId="{3180ED68-4CEF-45BD-A836-4188FD635005}" type="presParOf" srcId="{5F843C0D-2129-4317-80A9-4B20472244AF}" destId="{2DCE8B29-DF12-4310-8CDE-7F3594559CB0}" srcOrd="2" destOrd="0" presId="urn:microsoft.com/office/officeart/2005/8/layout/list1"/>
    <dgm:cxn modelId="{CCDF7EE3-1A52-423A-80F4-72B4C6ECD289}" type="presParOf" srcId="{5F843C0D-2129-4317-80A9-4B20472244AF}" destId="{B5015EDA-D1BB-4AFB-8BA1-1F606348EBBC}" srcOrd="3" destOrd="0" presId="urn:microsoft.com/office/officeart/2005/8/layout/list1"/>
    <dgm:cxn modelId="{2DBAABD1-1D3C-47E4-B8BF-41D325B1EE2C}" type="presParOf" srcId="{5F843C0D-2129-4317-80A9-4B20472244AF}" destId="{FD3468C4-ED8A-4B52-A39A-8729449D9184}" srcOrd="4" destOrd="0" presId="urn:microsoft.com/office/officeart/2005/8/layout/list1"/>
    <dgm:cxn modelId="{CCBEB975-3D48-4A18-9A21-499268422C34}" type="presParOf" srcId="{FD3468C4-ED8A-4B52-A39A-8729449D9184}" destId="{0B25CD9F-E2CA-440E-AFC5-D9026C31BD12}" srcOrd="0" destOrd="0" presId="urn:microsoft.com/office/officeart/2005/8/layout/list1"/>
    <dgm:cxn modelId="{C89BF8B6-63EA-40C7-B6FC-41E47949263B}" type="presParOf" srcId="{FD3468C4-ED8A-4B52-A39A-8729449D9184}" destId="{F549710D-0120-4343-8EDC-67EBA80BB47C}" srcOrd="1" destOrd="0" presId="urn:microsoft.com/office/officeart/2005/8/layout/list1"/>
    <dgm:cxn modelId="{11FFC89C-97B4-4665-8B27-6100DBBF16E9}" type="presParOf" srcId="{5F843C0D-2129-4317-80A9-4B20472244AF}" destId="{5BEEDBBB-5B77-4CD1-A1B3-9C83CBBA26C6}" srcOrd="5" destOrd="0" presId="urn:microsoft.com/office/officeart/2005/8/layout/list1"/>
    <dgm:cxn modelId="{CBF7E554-B219-4FBC-8A35-98C7B1479C91}" type="presParOf" srcId="{5F843C0D-2129-4317-80A9-4B20472244AF}" destId="{B85546DA-268D-4D08-AA25-F0326E04E7B9}" srcOrd="6" destOrd="0" presId="urn:microsoft.com/office/officeart/2005/8/layout/list1"/>
    <dgm:cxn modelId="{ADCC8845-998C-4747-928F-A5405A766190}" type="presParOf" srcId="{5F843C0D-2129-4317-80A9-4B20472244AF}" destId="{BEA0F135-0169-404B-833F-2C680B3ED878}" srcOrd="7" destOrd="0" presId="urn:microsoft.com/office/officeart/2005/8/layout/list1"/>
    <dgm:cxn modelId="{86F48EAD-7769-492F-B622-05D1AC4524A5}" type="presParOf" srcId="{5F843C0D-2129-4317-80A9-4B20472244AF}" destId="{9D11933F-82FC-4D0F-AB8B-A20C31207841}" srcOrd="8" destOrd="0" presId="urn:microsoft.com/office/officeart/2005/8/layout/list1"/>
    <dgm:cxn modelId="{E50765C2-94A5-44A0-8438-552C16A7874E}" type="presParOf" srcId="{9D11933F-82FC-4D0F-AB8B-A20C31207841}" destId="{23325BE4-AC79-4C7C-8786-00D0693FC969}" srcOrd="0" destOrd="0" presId="urn:microsoft.com/office/officeart/2005/8/layout/list1"/>
    <dgm:cxn modelId="{AB203A54-52B3-426F-AC06-358E4C826284}" type="presParOf" srcId="{9D11933F-82FC-4D0F-AB8B-A20C31207841}" destId="{922854AA-EBD8-45C8-B5AB-BED1EEE36699}" srcOrd="1" destOrd="0" presId="urn:microsoft.com/office/officeart/2005/8/layout/list1"/>
    <dgm:cxn modelId="{809200F3-D1A9-4FAD-93EE-120B79FC7AAE}" type="presParOf" srcId="{5F843C0D-2129-4317-80A9-4B20472244AF}" destId="{653C470F-ACA2-4FA6-A51E-A842AA7418BD}" srcOrd="9" destOrd="0" presId="urn:microsoft.com/office/officeart/2005/8/layout/list1"/>
    <dgm:cxn modelId="{E5D7C43B-187A-47EE-BCF7-01F3CE0EDF95}" type="presParOf" srcId="{5F843C0D-2129-4317-80A9-4B20472244AF}" destId="{0EC87CA6-5CEC-4DAB-8FE3-86B6804850A8}" srcOrd="10" destOrd="0" presId="urn:microsoft.com/office/officeart/2005/8/layout/list1"/>
    <dgm:cxn modelId="{73314F06-6244-4350-ADBE-B2CBA4753D48}" type="presParOf" srcId="{5F843C0D-2129-4317-80A9-4B20472244AF}" destId="{1DA82650-B7EB-4A62-9625-2917ABE40219}" srcOrd="11" destOrd="0" presId="urn:microsoft.com/office/officeart/2005/8/layout/list1"/>
    <dgm:cxn modelId="{86E2DEEB-706C-42AF-97EE-BA887B46B8DB}" type="presParOf" srcId="{5F843C0D-2129-4317-80A9-4B20472244AF}" destId="{9E1BEF5E-BD50-4E1A-BBE3-7EC3F08DCCB7}" srcOrd="12" destOrd="0" presId="urn:microsoft.com/office/officeart/2005/8/layout/list1"/>
    <dgm:cxn modelId="{A737E463-848E-4DD4-951A-C2E6A88284CF}" type="presParOf" srcId="{9E1BEF5E-BD50-4E1A-BBE3-7EC3F08DCCB7}" destId="{32EF79A6-F53A-47F1-9D06-0123D704454C}" srcOrd="0" destOrd="0" presId="urn:microsoft.com/office/officeart/2005/8/layout/list1"/>
    <dgm:cxn modelId="{35F1BD12-9B8E-4D67-AC95-121F5928C5F7}" type="presParOf" srcId="{9E1BEF5E-BD50-4E1A-BBE3-7EC3F08DCCB7}" destId="{8C6BD45A-7EAC-44D1-9F2B-C2F3B3487AA3}" srcOrd="1" destOrd="0" presId="urn:microsoft.com/office/officeart/2005/8/layout/list1"/>
    <dgm:cxn modelId="{7ABCFDF1-F467-4030-B9AB-3AA5C0CEADF6}" type="presParOf" srcId="{5F843C0D-2129-4317-80A9-4B20472244AF}" destId="{BEE4A230-E5CC-43E5-AD28-839E3564CD82}" srcOrd="13" destOrd="0" presId="urn:microsoft.com/office/officeart/2005/8/layout/list1"/>
    <dgm:cxn modelId="{B8ED51C6-A3FB-4AB8-8057-00027DF7CF95}" type="presParOf" srcId="{5F843C0D-2129-4317-80A9-4B20472244AF}" destId="{C6C813C7-E7AA-40B9-B202-05C9BBD4F43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E8B29-DF12-4310-8CDE-7F3594559CB0}">
      <dsp:nvSpPr>
        <dsp:cNvPr id="0" name=""/>
        <dsp:cNvSpPr/>
      </dsp:nvSpPr>
      <dsp:spPr>
        <a:xfrm>
          <a:off x="0" y="1029178"/>
          <a:ext cx="7872599" cy="226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4DDA2D-9A7B-4499-9577-CE84124CDC4D}">
      <dsp:nvSpPr>
        <dsp:cNvPr id="0" name=""/>
        <dsp:cNvSpPr/>
      </dsp:nvSpPr>
      <dsp:spPr>
        <a:xfrm>
          <a:off x="393245" y="159214"/>
          <a:ext cx="6258251" cy="100280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296" tIns="0" rIns="208296" bIns="0" numCol="1" spcCol="1270" anchor="ctr" anchorCtr="0">
          <a:noAutofit/>
        </a:bodyPr>
        <a:lstStyle/>
        <a:p>
          <a:pPr marL="0" lvl="0" indent="0" algn="just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Analizar y describir la solución de los modelos matemáticos de </a:t>
          </a:r>
          <a:r>
            <a:rPr lang="es-ES" sz="1600" kern="1200" dirty="0" err="1"/>
            <a:t>D’Alambert</a:t>
          </a:r>
          <a:r>
            <a:rPr lang="es-ES" sz="1600" kern="1200" dirty="0"/>
            <a:t> y Fourier para 2D y 3D.</a:t>
          </a:r>
        </a:p>
      </dsp:txBody>
      <dsp:txXfrm>
        <a:off x="442198" y="208167"/>
        <a:ext cx="6160345" cy="904897"/>
      </dsp:txXfrm>
    </dsp:sp>
    <dsp:sp modelId="{B85546DA-268D-4D08-AA25-F0326E04E7B9}">
      <dsp:nvSpPr>
        <dsp:cNvPr id="0" name=""/>
        <dsp:cNvSpPr/>
      </dsp:nvSpPr>
      <dsp:spPr>
        <a:xfrm>
          <a:off x="0" y="2037777"/>
          <a:ext cx="7872599" cy="226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9710D-0120-4343-8EDC-67EBA80BB47C}">
      <dsp:nvSpPr>
        <dsp:cNvPr id="0" name=""/>
        <dsp:cNvSpPr/>
      </dsp:nvSpPr>
      <dsp:spPr>
        <a:xfrm>
          <a:off x="393245" y="1304578"/>
          <a:ext cx="6249112" cy="86603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296" tIns="0" rIns="208296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Definir los requerimientos para el desarrollo del sistema.</a:t>
          </a:r>
        </a:p>
      </dsp:txBody>
      <dsp:txXfrm>
        <a:off x="435522" y="1346855"/>
        <a:ext cx="6164558" cy="781485"/>
      </dsp:txXfrm>
    </dsp:sp>
    <dsp:sp modelId="{0EC87CA6-5CEC-4DAB-8FE3-86B6804850A8}">
      <dsp:nvSpPr>
        <dsp:cNvPr id="0" name=""/>
        <dsp:cNvSpPr/>
      </dsp:nvSpPr>
      <dsp:spPr>
        <a:xfrm>
          <a:off x="0" y="3115520"/>
          <a:ext cx="7872599" cy="226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2854AA-EBD8-45C8-B5AB-BED1EEE36699}">
      <dsp:nvSpPr>
        <dsp:cNvPr id="0" name=""/>
        <dsp:cNvSpPr/>
      </dsp:nvSpPr>
      <dsp:spPr>
        <a:xfrm>
          <a:off x="393245" y="2313177"/>
          <a:ext cx="6264472" cy="9351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296" tIns="0" rIns="208296" bIns="0" numCol="1" spcCol="1270" anchor="ctr" anchorCtr="0">
          <a:noAutofit/>
        </a:bodyPr>
        <a:lstStyle/>
        <a:p>
          <a:pPr marL="0" lvl="0" indent="0" algn="just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Desarrollar e implementar el sistema web para simular los fenómenos y representar la solución de modelos matemáticos de las ecuaciones ondulatorios de ondas de </a:t>
          </a:r>
          <a:r>
            <a:rPr lang="es-ES" sz="1600" kern="1200" dirty="0" err="1"/>
            <a:t>D’Alambert</a:t>
          </a:r>
          <a:r>
            <a:rPr lang="es-ES" sz="1600" kern="1200" dirty="0"/>
            <a:t> y Fourier para 2D y 3D en la ESPOCH.</a:t>
          </a:r>
        </a:p>
      </dsp:txBody>
      <dsp:txXfrm>
        <a:off x="438897" y="2358829"/>
        <a:ext cx="6173168" cy="843878"/>
      </dsp:txXfrm>
    </dsp:sp>
    <dsp:sp modelId="{C6C813C7-E7AA-40B9-B202-05C9BBD4F437}">
      <dsp:nvSpPr>
        <dsp:cNvPr id="0" name=""/>
        <dsp:cNvSpPr/>
      </dsp:nvSpPr>
      <dsp:spPr>
        <a:xfrm>
          <a:off x="0" y="4199432"/>
          <a:ext cx="7872599" cy="226800"/>
        </a:xfrm>
        <a:prstGeom prst="rect">
          <a:avLst/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6BD45A-7EAC-44D1-9F2B-C2F3B3487AA3}">
      <dsp:nvSpPr>
        <dsp:cNvPr id="0" name=""/>
        <dsp:cNvSpPr/>
      </dsp:nvSpPr>
      <dsp:spPr>
        <a:xfrm>
          <a:off x="393245" y="3390920"/>
          <a:ext cx="6212941" cy="94135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296" tIns="0" rIns="208296" bIns="0" numCol="1" spcCol="1270" anchor="ctr" anchorCtr="0">
          <a:noAutofit/>
        </a:bodyPr>
        <a:lstStyle/>
        <a:p>
          <a:pPr marL="0" lvl="0" indent="0" algn="just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Symbol" panose="05050102010706020507" pitchFamily="18" charset="2"/>
            <a:buNone/>
          </a:pPr>
          <a:r>
            <a:rPr lang="es-ES" sz="1600" kern="1200" dirty="0"/>
            <a:t>Evaluar la calidad en eficiencia y portabilidad del simulador, de acuerdo con la </a:t>
          </a:r>
          <a:r>
            <a:rPr lang="es-EC" sz="1600" kern="1200" dirty="0"/>
            <a:t>norma ISO/IEC 9126</a:t>
          </a:r>
          <a:r>
            <a:rPr lang="es-ES" sz="1600" kern="1200" dirty="0"/>
            <a:t>.</a:t>
          </a:r>
          <a:endParaRPr lang="es-ES" sz="1600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439198" y="3436873"/>
        <a:ext cx="6121035" cy="8494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5675853" y="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9B0D7A2F-AE71-4696-A7C6-90BF6001C6DD}" type="datetimeFigureOut">
              <a:rPr lang="es-EC" smtClean="0"/>
              <a:pPr/>
              <a:t>24/1/2019</a:t>
            </a:fld>
            <a:endParaRPr lang="es-EC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2" y="6542561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s-EC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5675853" y="6542561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774C4E22-CC91-4558-A8C8-323C37EFBC68}" type="slidenum">
              <a:rPr lang="es-EC" smtClean="0"/>
              <a:pPr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310049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l">
              <a:defRPr sz="13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675853" y="0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/>
          <a:lstStyle>
            <a:lvl1pPr algn="r">
              <a:defRPr sz="1300"/>
            </a:lvl1pPr>
          </a:lstStyle>
          <a:p>
            <a:fld id="{822B0442-417B-4D38-AAAA-193864C56196}" type="datetimeFigureOut">
              <a:rPr lang="es-EC" smtClean="0"/>
              <a:pPr/>
              <a:t>24/1/2019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943225" y="860425"/>
            <a:ext cx="4133850" cy="23256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16" tIns="48308" rIns="96616" bIns="48308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002031" y="3314929"/>
            <a:ext cx="8016239" cy="2712214"/>
          </a:xfrm>
          <a:prstGeom prst="rect">
            <a:avLst/>
          </a:prstGeom>
        </p:spPr>
        <p:txBody>
          <a:bodyPr vert="horz" lIns="96616" tIns="48308" rIns="96616" bIns="48308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6542561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l">
              <a:defRPr sz="13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675853" y="6542561"/>
            <a:ext cx="4342131" cy="345604"/>
          </a:xfrm>
          <a:prstGeom prst="rect">
            <a:avLst/>
          </a:prstGeom>
        </p:spPr>
        <p:txBody>
          <a:bodyPr vert="horz" lIns="96616" tIns="48308" rIns="96616" bIns="48308" rtlCol="0" anchor="b"/>
          <a:lstStyle>
            <a:lvl1pPr algn="r">
              <a:defRPr sz="1300"/>
            </a:lvl1pPr>
          </a:lstStyle>
          <a:p>
            <a:fld id="{8CB643C2-D90F-47A3-AC88-76804DBC2C8C}" type="slidenum">
              <a:rPr lang="es-EC" smtClean="0"/>
              <a:pPr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67334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4.wdp"/><Relationship Id="rId7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750984" y="225287"/>
            <a:ext cx="8403413" cy="6278907"/>
          </a:xfrm>
        </p:spPr>
        <p:txBody>
          <a:bodyPr>
            <a:normAutofit fontScale="90000"/>
          </a:bodyPr>
          <a:lstStyle/>
          <a:p>
            <a:pPr algn="ctr"/>
            <a:r>
              <a:rPr lang="es-EC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ESCUELA SUPERIOR POLITÉCNICA DE CHIMBORAZO</a:t>
            </a:r>
            <a:br>
              <a:rPr lang="es-EC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FACULTAD DE INFORMÁTICA Y ELECTRÓNICA</a:t>
            </a:r>
            <a:br>
              <a:rPr lang="es-EC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ESCUELA DE INGENIERÍA EN SISTEMAS</a:t>
            </a: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z="2700" b="1" dirty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s-ES" sz="2700" b="1" dirty="0"/>
              <a:t>DISEÑO E IMPLEMENTACIÓN DE UN SISTEMA WEB PARA SIMULAR LOS FENÓMENOS ONDULATORIOS DE D’ALAMBERT Y FOURIER EN 2D Y 3D APLICANDO MODELOS MATEMÁTICOS</a:t>
            </a:r>
            <a:r>
              <a:rPr lang="es-EC" sz="2700" b="1" dirty="0">
                <a:latin typeface="Times New Roman" pitchFamily="18" charset="0"/>
                <a:cs typeface="Times New Roman" pitchFamily="18" charset="0"/>
              </a:rPr>
              <a:t>”</a:t>
            </a:r>
            <a:br>
              <a:rPr lang="es-EC" sz="2400" dirty="0"/>
            </a:br>
            <a:br>
              <a:rPr lang="es-EC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s-EC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AUTORES:</a:t>
            </a: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LUIS MANUEL BARRAGÁN GONZÁLEZ</a:t>
            </a:r>
            <a:br>
              <a:rPr lang="es-EC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EFRAÍN AMADO COLCHA CEPEDA</a:t>
            </a:r>
            <a:br>
              <a:rPr lang="es-EC" sz="2000" dirty="0"/>
            </a:br>
            <a:br>
              <a:rPr lang="es-EC" sz="2000" dirty="0"/>
            </a:br>
            <a:br>
              <a:rPr lang="es-EC" sz="2000" dirty="0"/>
            </a:br>
            <a: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DIRECTOR:</a:t>
            </a:r>
            <a:br>
              <a:rPr lang="es-EC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C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ALONSO ÁLVAREZ</a:t>
            </a:r>
            <a:br>
              <a:rPr lang="es-EC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C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Resultado de imagen para espoch png">
            <a:extLst>
              <a:ext uri="{FF2B5EF4-FFF2-40B4-BE49-F238E27FC236}">
                <a16:creationId xmlns:a16="http://schemas.microsoft.com/office/drawing/2014/main" id="{69F5F451-8DC9-4223-B665-537F371A6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603" y="225287"/>
            <a:ext cx="1523831" cy="1536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305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100">
        <p14:switch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BDBEB-26C1-43D2-BE93-58968DE49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3082" y="849397"/>
            <a:ext cx="8911687" cy="1280890"/>
          </a:xfrm>
        </p:spPr>
        <p:txBody>
          <a:bodyPr/>
          <a:lstStyle/>
          <a:p>
            <a:r>
              <a:rPr lang="es-EC" b="1" dirty="0"/>
              <a:t>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EA43B9-B5AB-4C9F-AB18-B85D47538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7264" y="1912928"/>
            <a:ext cx="8915400" cy="3777622"/>
          </a:xfrm>
        </p:spPr>
        <p:txBody>
          <a:bodyPr/>
          <a:lstStyle/>
          <a:p>
            <a:pPr marL="0" indent="0" algn="just">
              <a:buNone/>
            </a:pPr>
            <a:r>
              <a:rPr lang="es-EC" dirty="0"/>
              <a:t>El sistema web es un producto software orientado al estudio de los fenómenos ondulatorios en 2D y 3D aplicando las formulas de D</a:t>
            </a:r>
            <a:r>
              <a:rPr lang="es-ES" dirty="0"/>
              <a:t>’</a:t>
            </a:r>
            <a:r>
              <a:rPr lang="es-ES" dirty="0" err="1"/>
              <a:t>Alambert</a:t>
            </a:r>
            <a:r>
              <a:rPr lang="es-ES" dirty="0"/>
              <a:t> y Fourier, para apoyar en la </a:t>
            </a:r>
            <a:r>
              <a:rPr lang="es-ES" dirty="0" err="1"/>
              <a:t>ense</a:t>
            </a:r>
            <a:r>
              <a:rPr lang="es-EC" dirty="0" err="1"/>
              <a:t>ñanza</a:t>
            </a:r>
            <a:r>
              <a:rPr lang="es-ES" dirty="0"/>
              <a:t> de las aplicaciones del c</a:t>
            </a:r>
            <a:r>
              <a:rPr lang="es-EC" dirty="0"/>
              <a:t>á</a:t>
            </a:r>
            <a:r>
              <a:rPr lang="es-ES" dirty="0" err="1"/>
              <a:t>lculo</a:t>
            </a:r>
            <a:r>
              <a:rPr lang="es-ES" dirty="0"/>
              <a:t> vectorial en la facultad de </a:t>
            </a:r>
            <a:r>
              <a:rPr lang="es-EC" dirty="0"/>
              <a:t>informática</a:t>
            </a:r>
            <a:r>
              <a:rPr lang="es-ES" dirty="0"/>
              <a:t> y electrónica de la ESPOCH. </a:t>
            </a:r>
            <a:endParaRPr lang="es-EC" dirty="0"/>
          </a:p>
        </p:txBody>
      </p:sp>
      <p:pic>
        <p:nvPicPr>
          <p:cNvPr id="15362" name="Picture 2" descr="Imagen relacionada">
            <a:extLst>
              <a:ext uri="{FF2B5EF4-FFF2-40B4-BE49-F238E27FC236}">
                <a16:creationId xmlns:a16="http://schemas.microsoft.com/office/drawing/2014/main" id="{15A8B0FD-FE2C-46A1-B3FC-A96BE1A2D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937" y="3276563"/>
            <a:ext cx="3462062" cy="347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7017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593ED-0ACD-400E-8DEB-28A354B01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307" y="690371"/>
            <a:ext cx="8911687" cy="1280890"/>
          </a:xfrm>
        </p:spPr>
        <p:txBody>
          <a:bodyPr/>
          <a:lstStyle/>
          <a:p>
            <a:r>
              <a:rPr lang="es-EC" b="1" dirty="0"/>
              <a:t>PLANTEAMIENTO DEL PROBLEMA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05317C-5B20-4F0A-AA30-33DFD1A18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3769" y="2663687"/>
            <a:ext cx="8915400" cy="3777622"/>
          </a:xfr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94109523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458569" y="625797"/>
            <a:ext cx="6454387" cy="120032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s-ES" dirty="0"/>
              <a:t>DISEÑAR E IMPLEMENTAR UN SISTEMA WEB PARA SIMULAR LOS FENÓMENOS ONDULATORIOS DE D’ALAMBERT Y FOURIER EN 2D Y 3D APLICANDO MODELOS MATEMÁTICOS</a:t>
            </a:r>
            <a:endParaRPr lang="es-EC" dirty="0"/>
          </a:p>
        </p:txBody>
      </p:sp>
      <p:sp>
        <p:nvSpPr>
          <p:cNvPr id="4" name="3 Almacenamiento de acceso secuencial"/>
          <p:cNvSpPr/>
          <p:nvPr/>
        </p:nvSpPr>
        <p:spPr>
          <a:xfrm>
            <a:off x="1712890" y="314937"/>
            <a:ext cx="3541690" cy="1326523"/>
          </a:xfrm>
          <a:prstGeom prst="flowChartMagneticTap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C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 GENERAL</a:t>
            </a:r>
          </a:p>
        </p:txBody>
      </p:sp>
      <p:grpSp>
        <p:nvGrpSpPr>
          <p:cNvPr id="14" name="Grupo 13"/>
          <p:cNvGrpSpPr/>
          <p:nvPr/>
        </p:nvGrpSpPr>
        <p:grpSpPr>
          <a:xfrm>
            <a:off x="301896" y="3366666"/>
            <a:ext cx="3409492" cy="1823899"/>
            <a:chOff x="0" y="1129066"/>
            <a:chExt cx="2950898" cy="1845889"/>
          </a:xfrm>
        </p:grpSpPr>
        <p:sp>
          <p:nvSpPr>
            <p:cNvPr id="15" name="Elipse 14"/>
            <p:cNvSpPr/>
            <p:nvPr/>
          </p:nvSpPr>
          <p:spPr>
            <a:xfrm>
              <a:off x="0" y="1129066"/>
              <a:ext cx="2950898" cy="1845889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Elipse 4"/>
            <p:cNvSpPr txBox="1"/>
            <p:nvPr/>
          </p:nvSpPr>
          <p:spPr>
            <a:xfrm>
              <a:off x="432149" y="1399390"/>
              <a:ext cx="2086600" cy="130524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s-EC" sz="2400" b="1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OBJETIVOS ESPECÍFICOS</a:t>
              </a:r>
              <a:endParaRPr lang="es-EC" sz="2400" kern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17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0209611"/>
              </p:ext>
            </p:extLst>
          </p:nvPr>
        </p:nvGraphicFramePr>
        <p:xfrm>
          <a:off x="4040357" y="1985891"/>
          <a:ext cx="7872599" cy="45854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7795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8" name="Group 7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29" name="Group 8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8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1030" name="Rectangle 9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31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032" name="Rectangle 102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4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540279" y="967417"/>
            <a:ext cx="377887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>
                <a:solidFill>
                  <a:srgbClr val="FE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FUNDAMENTO TEÓRICO</a:t>
            </a:r>
          </a:p>
        </p:txBody>
      </p:sp>
      <p:sp>
        <p:nvSpPr>
          <p:cNvPr id="1034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Imagen relacionada">
            <a:extLst>
              <a:ext uri="{FF2B5EF4-FFF2-40B4-BE49-F238E27FC236}">
                <a16:creationId xmlns:a16="http://schemas.microsoft.com/office/drawing/2014/main" id="{BFDDDCB4-5DBD-4E58-8E23-ADDE783ED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011" y="967417"/>
            <a:ext cx="4930468" cy="493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125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3EEAB-A900-41B1-A553-052FC97EE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290" y="690371"/>
            <a:ext cx="8911687" cy="1280890"/>
          </a:xfrm>
        </p:spPr>
        <p:txBody>
          <a:bodyPr/>
          <a:lstStyle/>
          <a:p>
            <a:r>
              <a:rPr lang="es-EC" b="1" dirty="0"/>
              <a:t>COMPUTACIÓN GRÁFICA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D76925-D51E-4172-B76F-3095113B2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760" y="2252870"/>
            <a:ext cx="8915400" cy="3777622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Es una rama de la informática que se encarga del estudio de los métodos y técnicas que ayudan en la representación de imágenes del mundo real y no real a través de un computador, se le puede definir como el arte de trasmitir emociones e intercambiar información mediante imágenes generadas por el computador.</a:t>
            </a:r>
            <a:endParaRPr lang="es-EC" dirty="0"/>
          </a:p>
        </p:txBody>
      </p:sp>
      <p:pic>
        <p:nvPicPr>
          <p:cNvPr id="14340" name="Picture 4" descr="Resultado de imagen para computacion grafica">
            <a:extLst>
              <a:ext uri="{FF2B5EF4-FFF2-40B4-BE49-F238E27FC236}">
                <a16:creationId xmlns:a16="http://schemas.microsoft.com/office/drawing/2014/main" id="{9997FA77-FB91-4273-A310-4C0AD50FAA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11"/>
          <a:stretch/>
        </p:blipFill>
        <p:spPr bwMode="auto">
          <a:xfrm>
            <a:off x="4821941" y="3912446"/>
            <a:ext cx="4489299" cy="2255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4792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8D94D-6C14-4DA5-A484-3CB660FA9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812" y="650615"/>
            <a:ext cx="8911687" cy="1280890"/>
          </a:xfrm>
        </p:spPr>
        <p:txBody>
          <a:bodyPr/>
          <a:lstStyle/>
          <a:p>
            <a:r>
              <a:rPr lang="es-EC" b="1"/>
              <a:t>ANIMACIÓN INFORMATICA</a:t>
            </a: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94BF9F-80B7-4B99-967B-78B929ED1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516" y="2319130"/>
            <a:ext cx="8915400" cy="3777622"/>
          </a:xfrm>
        </p:spPr>
        <p:txBody>
          <a:bodyPr/>
          <a:lstStyle/>
          <a:p>
            <a:pPr marL="0" indent="0" algn="just">
              <a:buNone/>
            </a:pPr>
            <a:r>
              <a:rPr lang="es-ES"/>
              <a:t>Se refiere a toda secuencia temporal donde se generen cambios visuales en una imagen. Así como cambios en las posiciones de los objetos ya sean traslaciones o rotaciones, una animación por computadora puede mostrar cambios temporales que afecten al tamaño de los objetos como son: su color, transparencia y texturas (Donald Hearn and M. Pauline Baker, 2006).</a:t>
            </a:r>
            <a:endParaRPr lang="es-EC" dirty="0"/>
          </a:p>
        </p:txBody>
      </p:sp>
      <p:pic>
        <p:nvPicPr>
          <p:cNvPr id="2050" name="Picture 2" descr="https://scontent-mia3-2.xx.fbcdn.net/v/t1.15752-9/50546887_243428836576492_1550832675344875520_n.jpg?_nc_cat=102&amp;_nc_ht=scontent-mia3-2.xx&amp;oh=88995e7105beb818491f36a93d213391&amp;oe=5CC63701">
            <a:extLst>
              <a:ext uri="{FF2B5EF4-FFF2-40B4-BE49-F238E27FC236}">
                <a16:creationId xmlns:a16="http://schemas.microsoft.com/office/drawing/2014/main" id="{E5544804-6478-44A5-9E05-0F4275870D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72" b="95308" l="5337" r="96770">
                        <a14:foregroundMark x1="5618" y1="24047" x2="5618" y2="24047"/>
                        <a14:foregroundMark x1="8989" y1="31672" x2="8989" y2="31672"/>
                        <a14:foregroundMark x1="12360" y1="44282" x2="12360" y2="44282"/>
                        <a14:foregroundMark x1="13764" y1="50733" x2="13764" y2="50733"/>
                        <a14:foregroundMark x1="11798" y1="50147" x2="11798" y2="50147"/>
                        <a14:foregroundMark x1="11798" y1="50147" x2="11798" y2="50147"/>
                        <a14:foregroundMark x1="11798" y1="50147" x2="11798" y2="50147"/>
                        <a14:foregroundMark x1="11236" y1="53079" x2="11236" y2="53079"/>
                        <a14:foregroundMark x1="11236" y1="57478" x2="11236" y2="57478"/>
                        <a14:foregroundMark x1="11798" y1="59531" x2="11798" y2="59531"/>
                        <a14:foregroundMark x1="18961" y1="14076" x2="18961" y2="14076"/>
                        <a14:foregroundMark x1="32022" y1="5865" x2="32022" y2="5865"/>
                        <a14:foregroundMark x1="83287" y1="84164" x2="83287" y2="84164"/>
                        <a14:foregroundMark x1="83848" y1="87097" x2="83848" y2="87097"/>
                        <a14:foregroundMark x1="79635" y1="95894" x2="79635" y2="95894"/>
                        <a14:foregroundMark x1="93258" y1="64516" x2="93258" y2="64516"/>
                        <a14:foregroundMark x1="96910" y1="57478" x2="96910" y2="57478"/>
                        <a14:foregroundMark x1="14607" y1="54545" x2="14607" y2="54545"/>
                        <a14:foregroundMark x1="11236" y1="27859" x2="11236" y2="27859"/>
                        <a14:foregroundMark x1="5899" y1="14663" x2="5899" y2="14663"/>
                        <a14:foregroundMark x1="8708" y1="32258" x2="8708" y2="32258"/>
                        <a14:foregroundMark x1="8708" y1="32258" x2="8708" y2="32258"/>
                        <a14:foregroundMark x1="8708" y1="32258" x2="8708" y2="32258"/>
                        <a14:foregroundMark x1="9831" y1="38710" x2="10955" y2="44868"/>
                        <a14:foregroundMark x1="10955" y1="44868" x2="10955" y2="44868"/>
                        <a14:foregroundMark x1="9270" y1="47507" x2="9270" y2="47507"/>
                        <a14:foregroundMark x1="9270" y1="47507" x2="9270" y2="47507"/>
                        <a14:foregroundMark x1="7303" y1="41935" x2="7303" y2="41935"/>
                        <a14:foregroundMark x1="7303" y1="41935" x2="7303" y2="41935"/>
                        <a14:foregroundMark x1="7303" y1="33724" x2="7303" y2="33724"/>
                        <a14:foregroundMark x1="7303" y1="33724" x2="7303" y2="33724"/>
                        <a14:foregroundMark x1="5618" y1="27273" x2="5618" y2="27273"/>
                        <a14:foregroundMark x1="5618" y1="27273" x2="5618" y2="27273"/>
                        <a14:foregroundMark x1="5337" y1="27859" x2="5337" y2="27859"/>
                        <a14:foregroundMark x1="5337" y1="29326" x2="5337" y2="29326"/>
                        <a14:foregroundMark x1="8708" y1="26686" x2="8708" y2="26686"/>
                        <a14:foregroundMark x1="8708" y1="26686" x2="8708" y2="26686"/>
                        <a14:foregroundMark x1="8427" y1="21701" x2="8427" y2="21701"/>
                        <a14:foregroundMark x1="8146" y1="21701" x2="8146" y2="21701"/>
                        <a14:foregroundMark x1="7022" y1="19648" x2="7022" y2="19648"/>
                        <a14:foregroundMark x1="7022" y1="19648" x2="7022" y2="19648"/>
                        <a14:foregroundMark x1="7022" y1="16716" x2="7022" y2="16716"/>
                        <a14:foregroundMark x1="7022" y1="16716" x2="7022" y2="16716"/>
                        <a14:foregroundMark x1="9551" y1="19062" x2="9551" y2="19062"/>
                        <a14:foregroundMark x1="9551" y1="19062" x2="9551" y2="19062"/>
                        <a14:foregroundMark x1="11236" y1="18475" x2="11236" y2="18475"/>
                        <a14:foregroundMark x1="11236" y1="18475" x2="11236" y2="18475"/>
                        <a14:foregroundMark x1="12640" y1="61290" x2="12640" y2="61290"/>
                        <a14:foregroundMark x1="12640" y1="61290" x2="12640" y2="61290"/>
                        <a14:foregroundMark x1="11517" y1="61290" x2="11517" y2="61290"/>
                        <a14:foregroundMark x1="10674" y1="61290" x2="10674" y2="61290"/>
                        <a14:foregroundMark x1="10674" y1="61290" x2="10674" y2="61290"/>
                        <a14:foregroundMark x1="7865" y1="61290" x2="7865" y2="61290"/>
                        <a14:foregroundMark x1="7865" y1="61290" x2="7865" y2="61290"/>
                        <a14:foregroundMark x1="9551" y1="62757" x2="9551" y2="62757"/>
                        <a14:foregroundMark x1="9831" y1="62757" x2="9831" y2="62757"/>
                        <a14:foregroundMark x1="9831" y1="63930" x2="9831" y2="63930"/>
                        <a14:foregroundMark x1="9831" y1="63930" x2="9831" y2="6393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891" y="4381622"/>
            <a:ext cx="4766602" cy="210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54275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EBF7C6-C47F-44D1-86C9-FA4B04649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7307" y="730128"/>
            <a:ext cx="8911687" cy="1280890"/>
          </a:xfrm>
        </p:spPr>
        <p:txBody>
          <a:bodyPr/>
          <a:lstStyle/>
          <a:p>
            <a:r>
              <a:rPr lang="es-EC" b="1" dirty="0"/>
              <a:t>MODELOS MATEMÁTICOS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18C3BA-18A8-4EB7-8CFA-0CDD898EA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7264" y="1884745"/>
            <a:ext cx="8915400" cy="3777622"/>
          </a:xfrm>
        </p:spPr>
        <p:txBody>
          <a:bodyPr/>
          <a:lstStyle/>
          <a:p>
            <a:pPr marL="0" indent="0" algn="just">
              <a:buNone/>
            </a:pPr>
            <a:r>
              <a:rPr lang="es-EC" dirty="0"/>
              <a:t>Son un </a:t>
            </a:r>
            <a:r>
              <a:rPr lang="es-ES" dirty="0"/>
              <a:t>conjunto de herramientas que ayudan a entender un sistema complejo que es afectado por muchas variables de maneras diversas, estos modelos ayudan al ser humano a percibir de mejor manera cálculos que no se pueden resolver con aritmética simple, además son utilizados como herramientas de predicción y estimación de posibles escenarios y así ayudar en el proceso de toma de decisiones (Oviedo Rondón, 2014).</a:t>
            </a:r>
            <a:endParaRPr lang="es-EC" dirty="0"/>
          </a:p>
        </p:txBody>
      </p:sp>
      <p:pic>
        <p:nvPicPr>
          <p:cNvPr id="3074" name="Picture 2" descr="Resultado de imagen para modelos matematicos">
            <a:extLst>
              <a:ext uri="{FF2B5EF4-FFF2-40B4-BE49-F238E27FC236}">
                <a16:creationId xmlns:a16="http://schemas.microsoft.com/office/drawing/2014/main" id="{6236CAD5-6384-4985-BC1E-0BCA62895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7" t="19162" r="1333" b="21975"/>
          <a:stretch/>
        </p:blipFill>
        <p:spPr bwMode="auto">
          <a:xfrm>
            <a:off x="4532244" y="4104861"/>
            <a:ext cx="6029740" cy="235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69217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F3D74-F644-4737-B791-DF61DFC55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342" y="663866"/>
            <a:ext cx="8911687" cy="1280890"/>
          </a:xfrm>
        </p:spPr>
        <p:txBody>
          <a:bodyPr/>
          <a:lstStyle/>
          <a:p>
            <a:r>
              <a:rPr lang="es-EC" b="1" dirty="0"/>
              <a:t>ECUACIONES DE ONDAS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9D8561-9B7F-49A5-84E4-D7ECE2758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273" y="2173357"/>
            <a:ext cx="8915400" cy="3777622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Una onda es la propagación de una perturbación desde un punto de origen hasta el medio que lo rodea (Castaños, 2016).</a:t>
            </a:r>
          </a:p>
          <a:p>
            <a:pPr marL="0" indent="0" algn="just">
              <a:buNone/>
            </a:pPr>
            <a:r>
              <a:rPr lang="es-ES" dirty="0"/>
              <a:t>Las ecuaciones de ondas en dos dimensiones permite representar vibraciones de cuerdas, mientras que las ecuaciones de ondas en tres dimensiones representan vibraciones de membranas.</a:t>
            </a:r>
            <a:endParaRPr lang="es-EC" dirty="0"/>
          </a:p>
        </p:txBody>
      </p:sp>
      <p:pic>
        <p:nvPicPr>
          <p:cNvPr id="4100" name="Picture 4" descr="Resultado de imagen para membrana ondas">
            <a:extLst>
              <a:ext uri="{FF2B5EF4-FFF2-40B4-BE49-F238E27FC236}">
                <a16:creationId xmlns:a16="http://schemas.microsoft.com/office/drawing/2014/main" id="{D3856B80-31A8-49F1-87BF-5916689B7F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5433" b="90603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6037"/>
          <a:stretch/>
        </p:blipFill>
        <p:spPr bwMode="auto">
          <a:xfrm>
            <a:off x="7089878" y="4062168"/>
            <a:ext cx="4283697" cy="245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n relacionada">
            <a:extLst>
              <a:ext uri="{FF2B5EF4-FFF2-40B4-BE49-F238E27FC236}">
                <a16:creationId xmlns:a16="http://schemas.microsoft.com/office/drawing/2014/main" id="{0C9A4065-3BCC-4C08-9F7A-62E7A0E05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378" y="3571668"/>
            <a:ext cx="476250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99833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61D789-F644-4828-AAD8-01F01B027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560" y="637363"/>
            <a:ext cx="8911687" cy="1280890"/>
          </a:xfrm>
        </p:spPr>
        <p:txBody>
          <a:bodyPr/>
          <a:lstStyle/>
          <a:p>
            <a:r>
              <a:rPr lang="es-EC" b="1" dirty="0"/>
              <a:t>FORMULA DE D</a:t>
            </a:r>
            <a:r>
              <a:rPr lang="es-ES" b="1" dirty="0"/>
              <a:t>’ALAMBERT</a:t>
            </a:r>
            <a:br>
              <a:rPr lang="es-ES" b="1" dirty="0"/>
            </a:br>
            <a:r>
              <a:rPr lang="es-ES" sz="3200" b="1" dirty="0"/>
              <a:t>CASO INFINITO</a:t>
            </a: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7D519A-36EF-42C6-9A12-625482FE0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7507" y="2443015"/>
            <a:ext cx="8915400" cy="3777622"/>
          </a:xfrm>
        </p:spPr>
        <p:txBody>
          <a:bodyPr/>
          <a:lstStyle/>
          <a:p>
            <a:pPr marL="0" indent="0">
              <a:buNone/>
            </a:pP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631921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19A8C-E6C6-4BD1-9371-ACB750038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0560" y="544597"/>
            <a:ext cx="8911687" cy="1280890"/>
          </a:xfrm>
        </p:spPr>
        <p:txBody>
          <a:bodyPr/>
          <a:lstStyle/>
          <a:p>
            <a:r>
              <a:rPr lang="es-EC" b="1" dirty="0"/>
              <a:t>FORMULA DE FOURIER</a:t>
            </a:r>
            <a:br>
              <a:rPr lang="es-EC" b="1" dirty="0"/>
            </a:br>
            <a:r>
              <a:rPr lang="es-EC" sz="3200" b="1" dirty="0"/>
              <a:t>CASO FINITO</a:t>
            </a: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10BE5-5938-4F9E-9461-A05D4B746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0760" y="2358887"/>
            <a:ext cx="8915400" cy="3777622"/>
          </a:xfrm>
        </p:spPr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105006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282A6-8D52-43E2-86AF-46971FA46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055" y="677118"/>
            <a:ext cx="8911687" cy="1280890"/>
          </a:xfrm>
        </p:spPr>
        <p:txBody>
          <a:bodyPr/>
          <a:lstStyle/>
          <a:p>
            <a:r>
              <a:rPr lang="es-ES" b="1" dirty="0"/>
              <a:t>HERREAMIENTAS DE DESAROLLO</a:t>
            </a:r>
            <a:endParaRPr lang="es-EC" b="1" dirty="0"/>
          </a:p>
        </p:txBody>
      </p:sp>
      <p:pic>
        <p:nvPicPr>
          <p:cNvPr id="5126" name="Picture 6" descr="Resultado de imagen para java png">
            <a:extLst>
              <a:ext uri="{FF2B5EF4-FFF2-40B4-BE49-F238E27FC236}">
                <a16:creationId xmlns:a16="http://schemas.microsoft.com/office/drawing/2014/main" id="{7211803C-9EF8-4C5B-95F0-997748E90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2111" y1="41750" x2="52111" y2="41750"/>
                        <a14:foregroundMark x1="58333" y1="43750" x2="58333" y2="43750"/>
                        <a14:foregroundMark x1="62778" y1="46000" x2="62778" y2="46000"/>
                        <a14:foregroundMark x1="73444" y1="45250" x2="73444" y2="45250"/>
                        <a14:foregroundMark x1="35000" y1="30250" x2="35000" y2="30250"/>
                        <a14:foregroundMark x1="33444" y1="23250" x2="33444" y2="23250"/>
                        <a14:foregroundMark x1="29778" y1="56250" x2="29778" y2="56250"/>
                        <a14:foregroundMark x1="30222" y1="62500" x2="30222" y2="62500"/>
                        <a14:foregroundMark x1="31333" y1="72250" x2="31333" y2="72250"/>
                        <a14:foregroundMark x1="45556" y1="52750" x2="45556" y2="52750"/>
                        <a14:foregroundMark x1="41222" y1="84250" x2="41222" y2="842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518" y="2194776"/>
            <a:ext cx="3409466" cy="1515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Imagen relacionada">
            <a:extLst>
              <a:ext uri="{FF2B5EF4-FFF2-40B4-BE49-F238E27FC236}">
                <a16:creationId xmlns:a16="http://schemas.microsoft.com/office/drawing/2014/main" id="{FBF944E3-F057-423A-BC86-70B2C57E6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7532" y="4534716"/>
            <a:ext cx="1815547" cy="201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Resultado de imagen para js png">
            <a:extLst>
              <a:ext uri="{FF2B5EF4-FFF2-40B4-BE49-F238E27FC236}">
                <a16:creationId xmlns:a16="http://schemas.microsoft.com/office/drawing/2014/main" id="{23E1753E-F2E2-4A71-A91A-9EFD56937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2000" l="10000" r="90000">
                        <a14:foregroundMark x1="46222" y1="15889" x2="46222" y2="15889"/>
                        <a14:foregroundMark x1="54444" y1="11778" x2="54444" y2="11778"/>
                        <a14:foregroundMark x1="60556" y1="44444" x2="60556" y2="44444"/>
                        <a14:foregroundMark x1="61222" y1="43000" x2="61222" y2="43000"/>
                        <a14:foregroundMark x1="61889" y1="39667" x2="61889" y2="39667"/>
                        <a14:foregroundMark x1="61889" y1="39667" x2="61889" y2="39667"/>
                        <a14:foregroundMark x1="61889" y1="39667" x2="61889" y2="39667"/>
                        <a14:foregroundMark x1="50333" y1="89222" x2="50333" y2="89222"/>
                        <a14:foregroundMark x1="48333" y1="92000" x2="48333" y2="9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2718" y="1760270"/>
            <a:ext cx="1949824" cy="194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Picture 18" descr="https://scontent-mia3-2.xx.fbcdn.net/v/t1.15752-9/49755994_225892988320169_4873848687576481792_n.png?_nc_cat=109&amp;_nc_ht=scontent-mia3-2.xx&amp;oh=1fb7b65f0e7d2b51502ef04d5219fcc2&amp;oe=5D002B8E">
            <a:extLst>
              <a:ext uri="{FF2B5EF4-FFF2-40B4-BE49-F238E27FC236}">
                <a16:creationId xmlns:a16="http://schemas.microsoft.com/office/drawing/2014/main" id="{C7C88AB5-29D9-484D-A0B4-EB93FC9BB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450" y="4843367"/>
            <a:ext cx="1949825" cy="1355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0" name="Picture 20" descr="https://scontent-mia3-2.xx.fbcdn.net/v/t1.15752-9/50208993_393366134770117_837095766009839616_n.png?_nc_cat=109&amp;_nc_ht=scontent-mia3-2.xx&amp;oh=468ff8d66c2ba00721e72609a67c0b44&amp;oe=5D001821">
            <a:extLst>
              <a:ext uri="{FF2B5EF4-FFF2-40B4-BE49-F238E27FC236}">
                <a16:creationId xmlns:a16="http://schemas.microsoft.com/office/drawing/2014/main" id="{38688C0D-49FB-4B89-AB20-7D78B621A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994" y="4365245"/>
            <a:ext cx="2695575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44" name="Picture 24" descr="Resultado de imagen para glassfish png">
            <a:extLst>
              <a:ext uri="{FF2B5EF4-FFF2-40B4-BE49-F238E27FC236}">
                <a16:creationId xmlns:a16="http://schemas.microsoft.com/office/drawing/2014/main" id="{C6C4D71D-D2EB-425A-B05B-8BF3A764C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142" y="2242864"/>
            <a:ext cx="2514600" cy="2124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390924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8342FC-E2C3-48D4-937E-08AC484A2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316" y="716875"/>
            <a:ext cx="8911687" cy="1280890"/>
          </a:xfrm>
        </p:spPr>
        <p:txBody>
          <a:bodyPr/>
          <a:lstStyle/>
          <a:p>
            <a:r>
              <a:rPr lang="es-ES" b="1" dirty="0"/>
              <a:t>MODELO, VISTA, CONTROLADOR</a:t>
            </a: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002704-0059-44DF-805E-36DBDCBAA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0886" y="2134903"/>
            <a:ext cx="8915400" cy="3777622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Según (</a:t>
            </a:r>
            <a:r>
              <a:rPr lang="es-ES" dirty="0" err="1"/>
              <a:t>Bahit</a:t>
            </a:r>
            <a:r>
              <a:rPr lang="es-ES" dirty="0"/>
              <a:t>, 2014) “MVC es un patrón de arquitectura de software encargado de separar la lógica de negocio de la interfaz del usuario y es el más utilizado en aplicaciones Web, ya que facilita la funcionalidad, mantenibilidad y escalabilidad del sistema, de forma simple y sencilla”.</a:t>
            </a:r>
            <a:endParaRPr lang="es-EC" dirty="0"/>
          </a:p>
        </p:txBody>
      </p:sp>
      <p:pic>
        <p:nvPicPr>
          <p:cNvPr id="6146" name="Picture 2" descr="https://scontent-mia3-2.xx.fbcdn.net/v/t1.15752-9/50949500_247312042664211_138787470123728896_n.png?_nc_cat=107&amp;_nc_ht=scontent-mia3-2.xx&amp;oh=0e101ce18e6859539af39d1f5c663e52&amp;oe=5CCA5559">
            <a:extLst>
              <a:ext uri="{FF2B5EF4-FFF2-40B4-BE49-F238E27FC236}">
                <a16:creationId xmlns:a16="http://schemas.microsoft.com/office/drawing/2014/main" id="{00D94AA7-66E5-4268-BA61-BFC7F8954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236" y="3810375"/>
            <a:ext cx="5448300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330913"/>
      </p:ext>
    </p:extLst>
  </p:cSld>
  <p:clrMapOvr>
    <a:masterClrMapping/>
  </p:clrMapOvr>
  <p:transition spd="slow">
    <p:randomBar dir="vert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2" name="Group 7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7173" name="Group 8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8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174" name="Rectangle 9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175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7176" name="Rectangle 102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104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8720B0-921F-4AF3-AF5F-940B9045A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377887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b="1">
                <a:solidFill>
                  <a:srgbClr val="FEFFFF"/>
                </a:solidFill>
              </a:rPr>
              <a:t>METODOLOGÍA</a:t>
            </a:r>
          </a:p>
        </p:txBody>
      </p:sp>
      <p:sp>
        <p:nvSpPr>
          <p:cNvPr id="107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170" name="Picture 2" descr="Resultado de imagen para metodologia png">
            <a:extLst>
              <a:ext uri="{FF2B5EF4-FFF2-40B4-BE49-F238E27FC236}">
                <a16:creationId xmlns:a16="http://schemas.microsoft.com/office/drawing/2014/main" id="{AA1472DA-C373-42B1-B2A8-8CCB7CB09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994" y="1756007"/>
            <a:ext cx="5640502" cy="335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531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306D2C-6955-4FC6-80B2-DD67163B6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3812" y="730127"/>
            <a:ext cx="8911687" cy="1280890"/>
          </a:xfrm>
        </p:spPr>
        <p:txBody>
          <a:bodyPr/>
          <a:lstStyle/>
          <a:p>
            <a:r>
              <a:rPr lang="es-ES" b="1" dirty="0"/>
              <a:t>SCRUM</a:t>
            </a:r>
            <a:endParaRPr lang="es-EC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6D19B42-DBAE-4ACA-B578-A0B0CC4DD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1004" y="1912929"/>
            <a:ext cx="8915400" cy="3777622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(</a:t>
            </a:r>
            <a:r>
              <a:rPr lang="es-ES" dirty="0" err="1"/>
              <a:t>Schwaber</a:t>
            </a:r>
            <a:r>
              <a:rPr lang="es-ES" dirty="0"/>
              <a:t> y Sutherland, 2013) mencionan que scrum es “Un marco de trabajo por el cual las personas pueden acometer problemas complejos adaptativos, a la vez entregar productos del máximo valor posible productiva y creativamente”, además que es ligero y fácil de entender.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73687418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45FF1-7E12-4116-937F-3248B4F61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091" y="746693"/>
            <a:ext cx="8911687" cy="1280890"/>
          </a:xfrm>
        </p:spPr>
        <p:txBody>
          <a:bodyPr/>
          <a:lstStyle/>
          <a:p>
            <a:r>
              <a:rPr lang="es-ES" b="1" dirty="0"/>
              <a:t>GESTI</a:t>
            </a:r>
            <a:r>
              <a:rPr lang="es-EC" b="1" dirty="0" err="1"/>
              <a:t>Ó</a:t>
            </a:r>
            <a:r>
              <a:rPr lang="es-ES" b="1" dirty="0"/>
              <a:t>N DEL PROYECTO</a:t>
            </a:r>
            <a:endParaRPr lang="es-EC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D77886D-2402-48F0-B309-80FE626229D4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47" t="23264" r="30730" b="35045"/>
          <a:stretch>
            <a:fillRect/>
          </a:stretch>
        </p:blipFill>
        <p:spPr bwMode="auto">
          <a:xfrm>
            <a:off x="3009486" y="1706838"/>
            <a:ext cx="6426062" cy="41108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4006725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oup 92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94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5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6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7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8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9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0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1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2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3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5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108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9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0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1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2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3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4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5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6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7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8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9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3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742741-8D86-48D4-91BB-F8BE91114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377887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>
                <a:solidFill>
                  <a:srgbClr val="FEFFFF"/>
                </a:solidFill>
              </a:rPr>
              <a:t>APLICACIÓN WEB</a:t>
            </a:r>
          </a:p>
        </p:txBody>
      </p:sp>
      <p:sp>
        <p:nvSpPr>
          <p:cNvPr id="129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849D08-FD52-474F-B962-E99D4998F2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639" t="13636" r="20048" b="5047"/>
          <a:stretch/>
        </p:blipFill>
        <p:spPr>
          <a:xfrm>
            <a:off x="5504673" y="999694"/>
            <a:ext cx="5640502" cy="458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763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8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1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03C1E-93B4-47B7-A931-A6FB1455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377887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>
                <a:solidFill>
                  <a:srgbClr val="FEFFFF"/>
                </a:solidFill>
              </a:rPr>
              <a:t>RESULTADOS</a:t>
            </a:r>
          </a:p>
        </p:txBody>
      </p:sp>
      <p:sp>
        <p:nvSpPr>
          <p:cNvPr id="107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18" name="Picture 2" descr="Resultado de imagen para resultados png">
            <a:extLst>
              <a:ext uri="{FF2B5EF4-FFF2-40B4-BE49-F238E27FC236}">
                <a16:creationId xmlns:a16="http://schemas.microsoft.com/office/drawing/2014/main" id="{493C55F9-8C6E-4AC9-B182-2199DD917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994" y="2036627"/>
            <a:ext cx="5640502" cy="2792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5379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724A5-9544-4B52-8B0A-840664F1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547910"/>
            <a:ext cx="8911687" cy="1280890"/>
          </a:xfrm>
        </p:spPr>
        <p:txBody>
          <a:bodyPr/>
          <a:lstStyle/>
          <a:p>
            <a:r>
              <a:rPr lang="es-EC" b="1" dirty="0"/>
              <a:t>CARACTERÍSTICAS Y MÉTRICAS EVALUADAS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3A8DE0-B3B1-4E47-936B-21D802C53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5612" y="1917700"/>
            <a:ext cx="8915400" cy="3777622"/>
          </a:xfrm>
        </p:spPr>
        <p:txBody>
          <a:bodyPr/>
          <a:lstStyle/>
          <a:p>
            <a:pPr marL="0" indent="0">
              <a:buNone/>
            </a:pPr>
            <a:r>
              <a:rPr lang="es-EC" dirty="0"/>
              <a:t>Estándar ISO/IEC 9126</a:t>
            </a:r>
          </a:p>
          <a:p>
            <a:pPr marL="0" indent="0">
              <a:buNone/>
            </a:pPr>
            <a:endParaRPr lang="es-EC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D1A1A16-A622-41B7-B44B-3C939CE39D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4989490"/>
              </p:ext>
            </p:extLst>
          </p:nvPr>
        </p:nvGraphicFramePr>
        <p:xfrm>
          <a:off x="3218814" y="2514600"/>
          <a:ext cx="8468995" cy="412305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80939">
                  <a:extLst>
                    <a:ext uri="{9D8B030D-6E8A-4147-A177-3AD203B41FA5}">
                      <a16:colId xmlns:a16="http://schemas.microsoft.com/office/drawing/2014/main" val="1651503378"/>
                    </a:ext>
                  </a:extLst>
                </a:gridCol>
                <a:gridCol w="3344028">
                  <a:extLst>
                    <a:ext uri="{9D8B030D-6E8A-4147-A177-3AD203B41FA5}">
                      <a16:colId xmlns:a16="http://schemas.microsoft.com/office/drawing/2014/main" val="3856216047"/>
                    </a:ext>
                  </a:extLst>
                </a:gridCol>
                <a:gridCol w="3344028">
                  <a:extLst>
                    <a:ext uri="{9D8B030D-6E8A-4147-A177-3AD203B41FA5}">
                      <a16:colId xmlns:a16="http://schemas.microsoft.com/office/drawing/2014/main" val="3790739306"/>
                    </a:ext>
                  </a:extLst>
                </a:gridCol>
              </a:tblGrid>
              <a:tr h="293158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Parámetros</a:t>
                      </a:r>
                      <a:endParaRPr lang="es-EC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Indicador</a:t>
                      </a:r>
                      <a:endParaRPr lang="es-EC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Descripción</a:t>
                      </a:r>
                      <a:endParaRPr lang="es-EC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0663552"/>
                  </a:ext>
                </a:extLst>
              </a:tr>
              <a:tr h="594383">
                <a:tc row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EC" sz="12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EC" sz="12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Portabilidad</a:t>
                      </a:r>
                      <a:endParaRPr lang="es-EC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Adaptabilidad</a:t>
                      </a:r>
                      <a:endParaRPr lang="es-EC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¿El software se puede trasladar a otros ambientes?</a:t>
                      </a:r>
                      <a:endParaRPr lang="es-EC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3964219"/>
                  </a:ext>
                </a:extLst>
              </a:tr>
              <a:tr h="594383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Capacidad de instalación</a:t>
                      </a:r>
                      <a:endParaRPr lang="es-EC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¿El software se puede instalar fácilmente?</a:t>
                      </a:r>
                      <a:endParaRPr lang="es-EC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42505311"/>
                  </a:ext>
                </a:extLst>
              </a:tr>
              <a:tr h="910707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Conformidad</a:t>
                      </a:r>
                      <a:endParaRPr lang="es-EC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¿El sistema puede seguir funcionando si se hacen cambios?</a:t>
                      </a:r>
                      <a:endParaRPr lang="es-EC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2141212"/>
                  </a:ext>
                </a:extLst>
              </a:tr>
              <a:tr h="594383">
                <a:tc row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Eficiencia</a:t>
                      </a:r>
                      <a:endParaRPr lang="es-EC" sz="1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Comportamiento del tiempo</a:t>
                      </a:r>
                      <a:endParaRPr lang="es-EC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¿Qué tan rápido responde el sistema?</a:t>
                      </a:r>
                      <a:endParaRPr lang="es-EC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76854582"/>
                  </a:ext>
                </a:extLst>
              </a:tr>
              <a:tr h="594383">
                <a:tc vMerge="1">
                  <a:txBody>
                    <a:bodyPr/>
                    <a:lstStyle/>
                    <a:p>
                      <a:endParaRPr lang="es-EC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Utilización de recursos</a:t>
                      </a:r>
                      <a:endParaRPr lang="es-EC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¿El sistema utiliza los recursos de manera eficiente?</a:t>
                      </a:r>
                      <a:endParaRPr lang="es-EC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843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239959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34264-FCE4-4A08-B31D-D4FB93A6D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6820" y="677119"/>
            <a:ext cx="8911687" cy="1280890"/>
          </a:xfrm>
        </p:spPr>
        <p:txBody>
          <a:bodyPr/>
          <a:lstStyle/>
          <a:p>
            <a:r>
              <a:rPr lang="es-EC" b="1" dirty="0"/>
              <a:t>RESULTADOS PORTABILIDAD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658C98-95A8-4B59-A37F-796AFD6F8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056" y="5637542"/>
            <a:ext cx="8915400" cy="1086678"/>
          </a:xfrm>
        </p:spPr>
        <p:txBody>
          <a:bodyPr/>
          <a:lstStyle/>
          <a:p>
            <a:pPr marL="0" indent="0" algn="just">
              <a:buNone/>
            </a:pPr>
            <a:r>
              <a:rPr lang="es-ES" dirty="0"/>
              <a:t>Se obtiene un 100% de portabilidad, esto se justifica al ser un sistema web al cual se puede acceder en cualquier entorno que cuente o con un navegador web.</a:t>
            </a:r>
            <a:endParaRPr lang="es-EC" dirty="0"/>
          </a:p>
        </p:txBody>
      </p:sp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849C253F-1213-4F12-9E6F-3617F18443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9526211"/>
              </p:ext>
            </p:extLst>
          </p:nvPr>
        </p:nvGraphicFramePr>
        <p:xfrm>
          <a:off x="3159056" y="1651001"/>
          <a:ext cx="6619944" cy="368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07080748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392BB-D23F-4C40-9137-760BF642E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964" y="576071"/>
            <a:ext cx="8911687" cy="1280890"/>
          </a:xfrm>
        </p:spPr>
        <p:txBody>
          <a:bodyPr/>
          <a:lstStyle/>
          <a:p>
            <a:r>
              <a:rPr lang="es-EC" b="1" dirty="0"/>
              <a:t>RESULTADOS COMPARACIÓN DE RECURSOS UTILIZADOS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988AE8-5450-45B9-AD56-CF6931E54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6777" y="5586002"/>
            <a:ext cx="8915400" cy="841302"/>
          </a:xfrm>
        </p:spPr>
        <p:txBody>
          <a:bodyPr/>
          <a:lstStyle/>
          <a:p>
            <a:pPr marL="0" indent="0" algn="just">
              <a:buNone/>
            </a:pPr>
            <a:r>
              <a:rPr lang="es-ES" u="sng" dirty="0"/>
              <a:t>S</a:t>
            </a:r>
            <a:r>
              <a:rPr lang="es-ES" dirty="0"/>
              <a:t>e obtiene un 12% de utilización de recursos con una calificación cualitativa de baja, siendo entre más baja mejor.</a:t>
            </a:r>
            <a:endParaRPr lang="es-EC" dirty="0"/>
          </a:p>
        </p:txBody>
      </p:sp>
      <p:graphicFrame>
        <p:nvGraphicFramePr>
          <p:cNvPr id="4" name="Imagen 45">
            <a:extLst>
              <a:ext uri="{FF2B5EF4-FFF2-40B4-BE49-F238E27FC236}">
                <a16:creationId xmlns:a16="http://schemas.microsoft.com/office/drawing/2014/main" id="{40947679-54AE-4E5A-B2CD-95729BD2D5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3054353"/>
              </p:ext>
            </p:extLst>
          </p:nvPr>
        </p:nvGraphicFramePr>
        <p:xfrm>
          <a:off x="2995500" y="2097262"/>
          <a:ext cx="6678613" cy="32484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58022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8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1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401119-6C97-4130-9FF1-EB122D955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377887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dirty="0">
                <a:solidFill>
                  <a:srgbClr val="FEFFFF"/>
                </a:solidFill>
              </a:rPr>
              <a:t>CONCLUSIONES Y RECOMENDACIONES </a:t>
            </a:r>
          </a:p>
        </p:txBody>
      </p:sp>
      <p:sp>
        <p:nvSpPr>
          <p:cNvPr id="107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266" name="Picture 2" descr="Resultado de imagen para conclusion png">
            <a:extLst>
              <a:ext uri="{FF2B5EF4-FFF2-40B4-BE49-F238E27FC236}">
                <a16:creationId xmlns:a16="http://schemas.microsoft.com/office/drawing/2014/main" id="{3F964A3D-D3C6-4C45-BFC5-8656C61E4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011" y="967417"/>
            <a:ext cx="4930468" cy="49304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3758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484BA-FDA6-4A4C-99EA-F844CBA23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090" y="730127"/>
            <a:ext cx="8911687" cy="727612"/>
          </a:xfrm>
        </p:spPr>
        <p:txBody>
          <a:bodyPr/>
          <a:lstStyle/>
          <a:p>
            <a:r>
              <a:rPr lang="es-EC" b="1" dirty="0"/>
              <a:t>CONCLUSIONES</a:t>
            </a:r>
            <a:r>
              <a:rPr lang="es-EC" dirty="0"/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AC8BD2-7094-4B1D-889C-036817F14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705" y="1683025"/>
            <a:ext cx="9013204" cy="4956313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s-ES" dirty="0"/>
              <a:t>Con respecto al primer objetivo, se realizó el análisis de las fórmulas de </a:t>
            </a:r>
            <a:r>
              <a:rPr lang="es-ES" dirty="0" err="1"/>
              <a:t>D’Alambert</a:t>
            </a:r>
            <a:r>
              <a:rPr lang="es-ES" dirty="0"/>
              <a:t> y Fourier en 2D y 3D, con lo que se pudo representar las soluciones de los modelos matemáticos de ondas, las cuales se utilizaron en el desarrollo del sistema web.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dirty="0"/>
              <a:t>Con respecto al segundo objetivo, se obtuvo un total de 6 requerimientos para el desarrollo del sistema web, los cuales satisfacen las necesidades del usuario.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dirty="0"/>
              <a:t>Con respecto al tercer objetivo, fue posible desarrollar el sistema web utilizando la herramienta NetBeans 8.2, con los lenguajes de programación java y JavaScript, los cuales facilitaron la representación de las fórmulas de </a:t>
            </a:r>
            <a:r>
              <a:rPr lang="es-ES" dirty="0" err="1"/>
              <a:t>D’Alambert</a:t>
            </a:r>
            <a:r>
              <a:rPr lang="es-ES" dirty="0"/>
              <a:t> y Fourier en 2D y 3D.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dirty="0"/>
              <a:t>Con respecto al cuarto objetivo, se efectuó un estudio comparativo para medir la portabilidad y eficiencia del sistema, obteniendo como resultado un 100% de portabilidad y un promedio de 12% de consumo de recursos.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dirty="0"/>
              <a:t>Con la ayuda de la computación gráfica y los métodos numéricos fue posible representar de manera exitosa las ecuaciones de ondas en 2D y 3D en un sistema web.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dirty="0"/>
              <a:t>Luego del estudio comparativo para validar la eficiencia se determinó que el sistema consume menos recursos en un entorno Linux.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525536813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1FA30C-ADA2-48A9-9DBF-BA17793C6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4056" y="690371"/>
            <a:ext cx="8911687" cy="1280890"/>
          </a:xfrm>
        </p:spPr>
        <p:txBody>
          <a:bodyPr/>
          <a:lstStyle/>
          <a:p>
            <a:r>
              <a:rPr lang="es-EC" b="1" dirty="0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E46495-C8B0-41FC-B712-5587C655D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7020" y="2120348"/>
            <a:ext cx="8915400" cy="3777622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s-ES" dirty="0"/>
              <a:t>Se recomienda aplicar la metodología de desarrollo ágil SCRUM, ya que esta ayuda a gestionar de manera eficiente las actividades de desarrollo mediante entregables semanales.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dirty="0"/>
              <a:t>Para una correcta utilización del sistema y garantizar un buen funcionamiento de la herramienta, se recomienda revisar el manual de usuario.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dirty="0"/>
              <a:t>Para futuras incorporaciones al sistema, se recomienda investigar sobre tecnologías y herramientas para simulaciones en tiempo real.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s-ES" dirty="0"/>
              <a:t>El estándar ISO/IEC 9126 promueva la evaluación de calidad de software, se recomienda aplicar estándares de calidad para satisfacer las necesidades del cliente y obtener software de calidad.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835255712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7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8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8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99" name="Rectangle 9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1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48570A-0CAC-4BE1-A22C-4BE1097A6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377887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dirty="0">
                <a:solidFill>
                  <a:srgbClr val="FEFFFF"/>
                </a:solidFill>
              </a:rPr>
              <a:t>GRACIAS POR SU ATENCIÓN</a:t>
            </a:r>
          </a:p>
        </p:txBody>
      </p:sp>
      <p:sp>
        <p:nvSpPr>
          <p:cNvPr id="107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3314" name="Picture 2" descr="Resultado de imagen para gracias  por su atencion png">
            <a:extLst>
              <a:ext uri="{FF2B5EF4-FFF2-40B4-BE49-F238E27FC236}">
                <a16:creationId xmlns:a16="http://schemas.microsoft.com/office/drawing/2014/main" id="{D8C4EAFB-57A7-4485-9AD4-533FE2D50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7994" y="1909716"/>
            <a:ext cx="5640502" cy="3045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9059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spiral">
  <a:themeElements>
    <a:clrScheme name="Personalizado 7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016188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4E005F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明朝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1006</Words>
  <Application>Microsoft Office PowerPoint</Application>
  <PresentationFormat>Panorámica</PresentationFormat>
  <Paragraphs>71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3" baseType="lpstr">
      <vt:lpstr>Arial</vt:lpstr>
      <vt:lpstr>Calibri</vt:lpstr>
      <vt:lpstr>Century Gothic</vt:lpstr>
      <vt:lpstr>Symbol</vt:lpstr>
      <vt:lpstr>Times New Roman</vt:lpstr>
      <vt:lpstr>Wingdings</vt:lpstr>
      <vt:lpstr>Wingdings 3</vt:lpstr>
      <vt:lpstr>Espiral</vt:lpstr>
      <vt:lpstr>ESCUELA SUPERIOR POLITÉCNICA DE CHIMBORAZO FACULTAD DE INFORMÁTICA Y ELECTRÓNICA ESCUELA DE INGENIERÍA EN SISTEMAS   “DISEÑO E IMPLEMENTACIÓN DE UN SISTEMA WEB PARA SIMULAR LOS FENÓMENOS ONDULATORIOS DE D’ALAMBERT Y FOURIER EN 2D Y 3D APLICANDO MODELOS MATEMÁTICOS”   AUTORES: LUIS MANUEL BARRAGÁN GONZÁLEZ EFRAÍN AMADO COLCHA CEPEDA   DIRECTOR: DR. ALONSO ÁLVAREZ </vt:lpstr>
      <vt:lpstr>INTRODUCCIÓN</vt:lpstr>
      <vt:lpstr>PLANTEAMIENTO DEL PROBLEMA</vt:lpstr>
      <vt:lpstr>Presentación de PowerPoint</vt:lpstr>
      <vt:lpstr>FUNDAMENTO TEÓRICO</vt:lpstr>
      <vt:lpstr>COMPUTACIÓN GRÁFICA</vt:lpstr>
      <vt:lpstr>ANIMACIÓN INFORMATICA</vt:lpstr>
      <vt:lpstr>MODELOS MATEMÁTICOS</vt:lpstr>
      <vt:lpstr>ECUACIONES DE ONDAS</vt:lpstr>
      <vt:lpstr>FORMULA DE D’ALAMBERT CASO INFINITO</vt:lpstr>
      <vt:lpstr>FORMULA DE FOURIER CASO FINITO</vt:lpstr>
      <vt:lpstr>HERREAMIENTAS DE DESAROLLO</vt:lpstr>
      <vt:lpstr>MODELO, VISTA, CONTROLADOR</vt:lpstr>
      <vt:lpstr>METODOLOGÍA</vt:lpstr>
      <vt:lpstr>SCRUM</vt:lpstr>
      <vt:lpstr>GESTIÓN DEL PROYECTO</vt:lpstr>
      <vt:lpstr>APLICACIÓN WEB</vt:lpstr>
      <vt:lpstr>RESULTADOS</vt:lpstr>
      <vt:lpstr>CARACTERÍSTICAS Y MÉTRICAS EVALUADAS </vt:lpstr>
      <vt:lpstr>RESULTADOS PORTABILIDAD</vt:lpstr>
      <vt:lpstr>RESULTADOS COMPARACIÓN DE RECURSOS UTILIZADOS</vt:lpstr>
      <vt:lpstr>CONCLUSIONES Y RECOMENDACIONES </vt:lpstr>
      <vt:lpstr>CONCLUSIONES </vt:lpstr>
      <vt:lpstr>RECOMENDACIONES</vt:lpstr>
      <vt:lpstr>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ESCUELA SUPERIOR POLITÉCNICA DE CHIMBORAZO FACULTAD DE INFORMÁTICA Y ELECTRÓNICA ESCUELA DE INGENIERÍA EN SISTEMAS   “DISEÑO E IMPLEMENTACIÓN DE UN SISTEMA WEB PARA SIMULAR LOS FENÓMENOS ONDULATORIOS DE D’ALAMBERT Y FOURIER EN 2D Y 3D APLICANDO MODELOS MATEMÁTICOS”   AUTORES: LUIS MANUEL BARRAGÁN GONZÁLEZ EFRAÍN AMADO COLCHA CEPEDA   DIRECTOR: DR. ALONSO ÁLVAREZ</dc:title>
  <dc:creator>Efrain Amado Colcha Cepeda</dc:creator>
  <cp:lastModifiedBy>Efrain Amado Colcha Cepeda</cp:lastModifiedBy>
  <cp:revision>8</cp:revision>
  <dcterms:created xsi:type="dcterms:W3CDTF">2019-01-24T17:29:15Z</dcterms:created>
  <dcterms:modified xsi:type="dcterms:W3CDTF">2019-01-24T17:55:14Z</dcterms:modified>
</cp:coreProperties>
</file>